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E0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457200"/>
            <a:ext cx="3840480" cy="320040"/>
          </a:xfrm>
          <a:prstGeom prst="roundRect">
            <a:avLst>
              <a:gd name="adj" fmla="val 50000"/>
            </a:avLst>
          </a:prstGeom>
          <a:solidFill>
            <a:srgbClr val="A77A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36576" bIns="36576"/>
          <a:lstStyle/>
          <a:p>
            <a:pPr algn="ctr"/>
            <a:r>
              <a:rPr sz="1000" b="1">
                <a:solidFill>
                  <a:srgbClr val="EDE0C1"/>
                </a:solidFill>
                <a:latin typeface="Helvetica Neue"/>
              </a:rPr>
              <a:t>PROPUESTA DE INVERSIÓN · ABRIL 2026</a:t>
            </a:r>
          </a:p>
        </p:txBody>
      </p:sp>
      <p:sp>
        <p:nvSpPr>
          <p:cNvPr id="4" name="Oval 3"/>
          <p:cNvSpPr/>
          <p:nvPr/>
        </p:nvSpPr>
        <p:spPr>
          <a:xfrm>
            <a:off x="548640" y="1097280"/>
            <a:ext cx="548640" cy="548640"/>
          </a:xfrm>
          <a:prstGeom prst="ellipse">
            <a:avLst/>
          </a:prstGeom>
          <a:noFill/>
          <a:ln w="25400">
            <a:solidFill>
              <a:srgbClr val="A77A0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>
                <a:solidFill>
                  <a:srgbClr val="A77A0E"/>
                </a:solidFill>
                <a:latin typeface="Georgia"/>
              </a:rPr>
              <a:t>tl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103120"/>
            <a:ext cx="1097280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200" b="0" i="0">
                <a:solidFill>
                  <a:srgbClr val="2D2E3D"/>
                </a:solidFill>
                <a:latin typeface="Georgia"/>
              </a:rPr>
              <a:t>tuslibros.cl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97680"/>
            <a:ext cx="100584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0">
                <a:solidFill>
                  <a:srgbClr val="2D2E3D"/>
                </a:solidFill>
                <a:latin typeface="Helvetica Neue"/>
              </a:rPr>
              <a:t>Los libros de tu ciudad.</a:t>
            </a:r>
          </a:p>
          <a:p>
            <a:pPr algn="l"/>
            <a:r>
              <a:rPr sz="2000" b="0" i="0">
                <a:solidFill>
                  <a:srgbClr val="2D2E3D"/>
                </a:solidFill>
                <a:latin typeface="Helvetica Neue"/>
              </a:rPr>
              <a:t>Marketplace de libros usados con mapa, curación y split payment.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093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8B8B9C"/>
                </a:solidFill>
                <a:latin typeface="Helvetica Neue"/>
              </a:rPr>
              <a:t>VERÓNICA VELÁSQUEZ · FOUNDER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630936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8B8B9C"/>
                </a:solidFill>
                <a:latin typeface="Helvetica Neue"/>
              </a:rPr>
              <a:t>SANTIAGO, CHILE · ABRIL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00800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8B8B9C"/>
                </a:solidFill>
                <a:latin typeface="Helvetica Neue"/>
              </a:rPr>
              <a:t>01 / 11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A77A0E"/>
                </a:solidFill>
                <a:latin typeface="Helvetica Neue"/>
              </a:rPr>
              <a:t>EL PROBLEMA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200" b="0" i="0">
                <a:solidFill>
                  <a:srgbClr val="2D2E3D"/>
                </a:solidFill>
                <a:latin typeface="Georgia"/>
              </a:rPr>
              <a:t>El mercado de libros usados en Chile es grande,</a:t>
            </a:r>
          </a:p>
          <a:p>
            <a:pPr algn="l"/>
            <a:r>
              <a:rPr sz="4200" b="0" i="0">
                <a:solidFill>
                  <a:srgbClr val="2D2E3D"/>
                </a:solidFill>
                <a:latin typeface="Georgia"/>
              </a:rPr>
              <a:t>pero está invisible.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2651760"/>
            <a:ext cx="640080" cy="36576"/>
          </a:xfrm>
          <a:prstGeom prst="rect">
            <a:avLst/>
          </a:prstGeom>
          <a:solidFill>
            <a:srgbClr val="A77A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3108960"/>
            <a:ext cx="356616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200" b="0" i="0">
                <a:solidFill>
                  <a:srgbClr val="A77A0E"/>
                </a:solidFill>
                <a:latin typeface="Georgia"/>
              </a:rPr>
              <a:t>$8-12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48056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8B8B9C"/>
                </a:solidFill>
                <a:latin typeface="Helvetica Neue"/>
              </a:rPr>
              <a:t>MIL MILLONES CLP / AÑO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937760"/>
            <a:ext cx="356616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2D2E3D"/>
                </a:solidFill>
                <a:latin typeface="Helvetica Neue"/>
              </a:rPr>
              <a:t>Mercado estimado de libros usados en Chile, repartido entre MercadoLibre, Facebook Marketplace, librerías de viejo e intercambios informales. ~USD 8-12M.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43400" y="3108960"/>
            <a:ext cx="356616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200" b="0" i="0">
                <a:solidFill>
                  <a:srgbClr val="A77A0E"/>
                </a:solidFill>
                <a:latin typeface="Georgia"/>
              </a:rPr>
              <a:t>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43400" y="448056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8B8B9C"/>
                </a:solidFill>
                <a:latin typeface="Helvetica Neue"/>
              </a:rPr>
              <a:t>PLATAFORMA DIGITAL DEDICADA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43400" y="4937760"/>
            <a:ext cx="356616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2D2E3D"/>
                </a:solidFill>
                <a:latin typeface="Helvetica Neue"/>
              </a:rPr>
              <a:t>Buscalibre domina libro nuevo. MercadoLibre es commodity sin curación. Facebook no tiene pago integrado ni confianza. Las librerías de viejo siguen offline.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38160" y="3108960"/>
            <a:ext cx="356616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200" b="0" i="0">
                <a:solidFill>
                  <a:srgbClr val="A77A0E"/>
                </a:solidFill>
                <a:latin typeface="Georgia"/>
              </a:rPr>
              <a:t>72%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0" y="448056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8B8B9C"/>
                </a:solidFill>
                <a:latin typeface="Helvetica Neue"/>
              </a:rPr>
              <a:t>CATÁLOGO INVISIBLE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38160" y="4937760"/>
            <a:ext cx="356616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2D2E3D"/>
                </a:solidFill>
                <a:latin typeface="Helvetica Neue"/>
              </a:rPr>
              <a:t>Antes de tuslibros: el libro usado que quieres existe, pero encontrarlo toma tres búsquedas, cero garantía y una conversación de WhatsApp con un desconocido.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26364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8B8B9C"/>
                </a:solidFill>
                <a:latin typeface="Helvetica Neue"/>
              </a:rPr>
              <a:t>En Chile compramos ~45 millones de libros al año. El mercado de segunda vida existe, pero no tiene infraestructura digital. Nadie lo está resolviendo.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0" y="6400800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8B8B9C"/>
                </a:solidFill>
                <a:latin typeface="Helvetica Neue"/>
              </a:rPr>
              <a:t>02 / 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E0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A77A0E"/>
                </a:solidFill>
                <a:latin typeface="Helvetica Neue"/>
              </a:rPr>
              <a:t>LA SOLUCIÓN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800" b="0" i="0">
                <a:solidFill>
                  <a:srgbClr val="3D4670"/>
                </a:solidFill>
                <a:latin typeface="Georgia"/>
              </a:rPr>
              <a:t>Un marketplace con tres diferenciadores</a:t>
            </a:r>
          </a:p>
          <a:p>
            <a:pPr algn="l"/>
            <a:r>
              <a:rPr sz="3800" b="0" i="0">
                <a:solidFill>
                  <a:srgbClr val="3D4670"/>
                </a:solidFill>
                <a:latin typeface="Georgia"/>
              </a:rPr>
              <a:t>que nadie tiene junto.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92608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A77A0E"/>
                </a:solidFill>
                <a:latin typeface="Helvetica Neue"/>
              </a:rPr>
              <a:t>MAPA GEOLOCALIZADO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429000"/>
            <a:ext cx="356616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2D2E3D"/>
                </a:solidFill>
                <a:latin typeface="Helvetica Neue"/>
              </a:rPr>
              <a:t>Ves los libros como puntos en el mapa de tu ciudad. El libro más cercano es el mejor resultado. Experiencia tipo Uber, no catálogo plano.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43400" y="292608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A77A0E"/>
                </a:solidFill>
                <a:latin typeface="Helvetica Neue"/>
              </a:rPr>
              <a:t>CURACIÓN DE RAREZAS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43400" y="3429000"/>
            <a:ext cx="356616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2D2E3D"/>
                </a:solidFill>
                <a:latin typeface="Helvetica Neue"/>
              </a:rPr>
              <a:t>Featured, coleccionables y top 10 priorizan primeras ediciones, títulos agotados, editoriales históricas. No competimos en commodity — competimos en lo que nadie tiene.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292608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A77A0E"/>
                </a:solidFill>
                <a:latin typeface="Helvetica Neue"/>
              </a:rPr>
              <a:t>SPLIT PAYMENT INTEGRADO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8160" y="3429000"/>
            <a:ext cx="356616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2D2E3D"/>
                </a:solidFill>
                <a:latin typeface="Helvetica Neue"/>
              </a:rPr>
              <a:t>OAuth con MercadoPago: el pago se divide automáticamente entre vendedor y plataforma. Courier Shipit genera etiqueta al confirmar el pago. Un solo flujo, cero fricción operativa.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5394960"/>
            <a:ext cx="11064240" cy="1005840"/>
          </a:xfrm>
          <a:prstGeom prst="rect">
            <a:avLst/>
          </a:prstGeom>
          <a:solidFill>
            <a:srgbClr val="F3EA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5394960"/>
            <a:ext cx="36576" cy="1005840"/>
          </a:xfrm>
          <a:prstGeom prst="rect">
            <a:avLst/>
          </a:prstGeom>
          <a:solidFill>
            <a:srgbClr val="A77A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5504688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A77A0E"/>
                </a:solidFill>
                <a:latin typeface="Helvetica Neue"/>
              </a:rPr>
              <a:t>FEATURE ÚNICO EN CHILE: FOTO-A-CATÁLOGO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5852160"/>
            <a:ext cx="107899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2D2E3D"/>
                </a:solidFill>
                <a:latin typeface="Helvetica Neue"/>
              </a:rPr>
              <a:t>Subes la foto de la portada. Identificación vía LLM + enriquecimiento automático con Google Books y Open Library. Ningún competidor en Chile tiene esto. Elimina el 90% del trabajo de publicar.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0" y="6400800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8B8B9C"/>
                </a:solidFill>
                <a:latin typeface="Helvetica Neue"/>
              </a:rPr>
              <a:t>03 / 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A77A0E"/>
                </a:solidFill>
                <a:latin typeface="Helvetica Neue"/>
              </a:rPr>
              <a:t>PRODUCTO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0" i="0">
                <a:solidFill>
                  <a:srgbClr val="2D2E3D"/>
                </a:solidFill>
                <a:latin typeface="Georgia"/>
              </a:rPr>
              <a:t>En producción real desde el Viernes Santo.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 i="1">
                <a:solidFill>
                  <a:srgbClr val="8B8B9C"/>
                </a:solidFill>
                <a:latin typeface="Georgia"/>
              </a:rPr>
              <a:t>Construido en 7 días. Iterado 18.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468880"/>
            <a:ext cx="640080" cy="36576"/>
          </a:xfrm>
          <a:prstGeom prst="rect">
            <a:avLst/>
          </a:prstGeom>
          <a:solidFill>
            <a:srgbClr val="A77A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274320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A77A0E"/>
                </a:solidFill>
                <a:latin typeface="Helvetica Neue"/>
              </a:rPr>
              <a:t>STACK MODERNO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20040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2D2E3D"/>
                </a:solidFill>
                <a:latin typeface="Helvetica Neue"/>
              </a:rPr>
              <a:t>→  Next.js 14 App Router + React 18 + TypeScript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52044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2D2E3D"/>
                </a:solidFill>
                <a:latin typeface="Helvetica Neue"/>
              </a:rPr>
              <a:t>→  Supabase (Postgres + Storage + Auth)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84048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2D2E3D"/>
                </a:solidFill>
                <a:latin typeface="Helvetica Neue"/>
              </a:rPr>
              <a:t>→  MercadoPago OAuth con split payment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16052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2D2E3D"/>
                </a:solidFill>
                <a:latin typeface="Helvetica Neue"/>
              </a:rPr>
              <a:t>→  Shipit (Starken, Chilexpress, Blue Express, 99 Minutos)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48056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2D2E3D"/>
                </a:solidFill>
                <a:latin typeface="Helvetica Neue"/>
              </a:rPr>
              <a:t>→  Mapbox GL + geolocalización precisa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80060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2D2E3D"/>
                </a:solidFill>
                <a:latin typeface="Helvetica Neue"/>
              </a:rPr>
              <a:t>→  Vercel + CI/CD automático en producción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274320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A77A0E"/>
                </a:solidFill>
                <a:latin typeface="Helvetica Neue"/>
              </a:rPr>
              <a:t>FUNCIONALIDAD OPERATIVA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3200400"/>
            <a:ext cx="5669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2D2E3D"/>
                </a:solidFill>
                <a:latin typeface="Helvetica Neue"/>
              </a:rPr>
              <a:t>→  Bundle checkout multi-libro con preferencia MP única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3520440"/>
            <a:ext cx="5669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2D2E3D"/>
                </a:solidFill>
                <a:latin typeface="Helvetica Neue"/>
              </a:rPr>
              <a:t>→  URLs amigables /libro/[vendedor]/[slug]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3840480"/>
            <a:ext cx="5669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2D2E3D"/>
                </a:solidFill>
                <a:latin typeface="Helvetica Neue"/>
              </a:rPr>
              <a:t>→  Mensajería interna con RLS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4160520"/>
            <a:ext cx="5669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2D2E3D"/>
                </a:solidFill>
                <a:latin typeface="Helvetica Neue"/>
              </a:rPr>
              <a:t>→  Sistema de categorías con árbol (5 raíces · 32 subcategorías)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4480560"/>
            <a:ext cx="5669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2D2E3D"/>
                </a:solidFill>
                <a:latin typeface="Helvetica Neue"/>
              </a:rPr>
              <a:t>→  Novedades, destacados, coleccionables, tiers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4800600"/>
            <a:ext cx="5669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2D2E3D"/>
                </a:solidFill>
                <a:latin typeface="Helvetica Neue"/>
              </a:rPr>
              <a:t>→  Admin panel con CRUD completo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26364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8B8B9C"/>
                </a:solidFill>
                <a:latin typeface="Helvetica Neue"/>
              </a:rPr>
              <a:t>Costo de reproducir esto con una agencia de desarrollo: USD 150k-250k. Costo real construido con AI-augmented development: el equivalente a 7 días-persona.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400800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8B8B9C"/>
                </a:solidFill>
                <a:latin typeface="Helvetica Neue"/>
              </a:rPr>
              <a:t>04 / 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E0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A77A0E"/>
                </a:solidFill>
                <a:latin typeface="Helvetica Neue"/>
              </a:rPr>
              <a:t>TRACCIÓN · 18 DÍAS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0" i="0">
                <a:solidFill>
                  <a:srgbClr val="3D4670"/>
                </a:solidFill>
                <a:latin typeface="Georgia"/>
              </a:rPr>
              <a:t>Sin distribución activa ni gasto en marketing.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286000"/>
            <a:ext cx="2743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400" b="0" i="0">
                <a:solidFill>
                  <a:srgbClr val="A77A0E"/>
                </a:solidFill>
                <a:latin typeface="Georgia"/>
              </a:rPr>
              <a:t>438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29184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8B8B9C"/>
                </a:solidFill>
                <a:latin typeface="Helvetica Neue"/>
              </a:rPr>
              <a:t>USUARIOS ACTIVOS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61188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8B8B9C"/>
                </a:solidFill>
                <a:latin typeface="Helvetica Neue"/>
              </a:rPr>
              <a:t>GA4, primeros 10 días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83280" y="2286000"/>
            <a:ext cx="2743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400" b="0" i="0">
                <a:solidFill>
                  <a:srgbClr val="A77A0E"/>
                </a:solidFill>
                <a:latin typeface="Georgia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83280" y="329184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8B8B9C"/>
                </a:solidFill>
                <a:latin typeface="Helvetica Neue"/>
              </a:rPr>
              <a:t>COMPRADORES REALES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3280" y="361188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8B8B9C"/>
                </a:solidFill>
                <a:latin typeface="Helvetica Neue"/>
              </a:rPr>
              <a:t>11 libros vendidos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0" y="2286000"/>
            <a:ext cx="2743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400" b="0" i="0">
                <a:solidFill>
                  <a:srgbClr val="A77A0E"/>
                </a:solidFill>
                <a:latin typeface="Georgia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329184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8B8B9C"/>
                </a:solidFill>
                <a:latin typeface="Helvetica Neue"/>
              </a:rPr>
              <a:t>LIBRERÍAS ACTIVADAS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361188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8B8B9C"/>
                </a:solidFill>
                <a:latin typeface="Helvetica Neue"/>
              </a:rPr>
              <a:t>Orgánicamente, sin outreach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52560" y="2286000"/>
            <a:ext cx="2743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400" b="0" i="0">
                <a:solidFill>
                  <a:srgbClr val="A77A0E"/>
                </a:solidFill>
                <a:latin typeface="Georgia"/>
              </a:rPr>
              <a:t>207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52560" y="329184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8B8B9C"/>
                </a:solidFill>
                <a:latin typeface="Helvetica Neue"/>
              </a:rPr>
              <a:t>LISTINGS CURADOS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52560" y="361188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8B8B9C"/>
                </a:solidFill>
                <a:latin typeface="Helvetica Neue"/>
              </a:rPr>
              <a:t>Valor catálogo $2.4M CLP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4206240"/>
            <a:ext cx="2743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400" b="0" i="0">
                <a:solidFill>
                  <a:srgbClr val="A77A0E"/>
                </a:solidFill>
                <a:latin typeface="Georgia"/>
              </a:rPr>
              <a:t>20%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21208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8B8B9C"/>
                </a:solidFill>
                <a:latin typeface="Helvetica Neue"/>
              </a:rPr>
              <a:t>CONVERSIÓN REGISTRO → COMPRA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553212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8B8B9C"/>
                </a:solidFill>
                <a:latin typeface="Helvetica Neue"/>
              </a:rPr>
              <a:t>Benchmark seed: 5-15%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83280" y="4206240"/>
            <a:ext cx="2743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400" b="0" i="0">
                <a:solidFill>
                  <a:srgbClr val="A77A0E"/>
                </a:solidFill>
                <a:latin typeface="Georgia"/>
              </a:rPr>
              <a:t>4.6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83280" y="521208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8B8B9C"/>
                </a:solidFill>
                <a:latin typeface="Helvetica Neue"/>
              </a:rPr>
              <a:t>VISTAS / USUARIO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83280" y="553212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8B8B9C"/>
                </a:solidFill>
                <a:latin typeface="Helvetica Neue"/>
              </a:rPr>
              <a:t>Engagement sano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17920" y="4206240"/>
            <a:ext cx="2743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400" b="0" i="0">
                <a:solidFill>
                  <a:srgbClr val="A77A0E"/>
                </a:solidFill>
                <a:latin typeface="Georgia"/>
              </a:rPr>
              <a:t>$90k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7920" y="521208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8B8B9C"/>
                </a:solidFill>
                <a:latin typeface="Helvetica Neue"/>
              </a:rPr>
              <a:t>GMV ACUMULADO CLP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17920" y="553212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8B8B9C"/>
                </a:solidFill>
                <a:latin typeface="Helvetica Neue"/>
              </a:rPr>
              <a:t>3 ventas en 18 días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52560" y="4206240"/>
            <a:ext cx="2743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400" b="0" i="0">
                <a:solidFill>
                  <a:srgbClr val="A77A0E"/>
                </a:solidFill>
                <a:latin typeface="Georgia"/>
              </a:rPr>
              <a:t>$45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52560" y="521208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8B8B9C"/>
                </a:solidFill>
                <a:latin typeface="Helvetica Neue"/>
              </a:rPr>
              <a:t>BURN MENSUAL USD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52560" y="553212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8B8B9C"/>
                </a:solidFill>
                <a:latin typeface="Helvetica Neue"/>
              </a:rPr>
              <a:t>Vercel Pro + Supabase Pro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6355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8B8B9C"/>
                </a:solidFill>
                <a:latin typeface="Helvetica Neue"/>
              </a:rPr>
              <a:t>Operación iniciada 3 abril 2026. Tres ventas reales en 18 días: Zdravko (La Marina Tomo I, $5.000), set de 7 Maigret a tercer comprador ($40.000), bundle multi-libro a Camilo (17 abril, Concepción, $45.000).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0" y="6400800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8B8B9C"/>
                </a:solidFill>
                <a:latin typeface="Helvetica Neue"/>
              </a:rPr>
              <a:t>05 / 11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A77A0E"/>
                </a:solidFill>
                <a:latin typeface="Helvetica Neue"/>
              </a:rPr>
              <a:t>EVIDENCIA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800" b="0" i="0">
                <a:solidFill>
                  <a:srgbClr val="2D2E3D"/>
                </a:solidFill>
                <a:latin typeface="Georgia"/>
              </a:rPr>
              <a:t>El patrón ya está validado.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2011680"/>
            <a:ext cx="45720" cy="1645920"/>
          </a:xfrm>
          <a:prstGeom prst="rect">
            <a:avLst/>
          </a:prstGeom>
          <a:solidFill>
            <a:srgbClr val="A77A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105156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0" i="1">
                <a:solidFill>
                  <a:srgbClr val="2D2E3D"/>
                </a:solidFill>
                <a:latin typeface="Georgia"/>
              </a:rPr>
              <a:t>"Fácil y sin complicaciones. Muy buena disposición por parte del vendedor,</a:t>
            </a:r>
          </a:p>
          <a:p>
            <a:pPr algn="l"/>
            <a:r>
              <a:rPr sz="3000" b="0" i="1">
                <a:solidFill>
                  <a:srgbClr val="2D2E3D"/>
                </a:solidFill>
                <a:latin typeface="Georgia"/>
              </a:rPr>
              <a:t>volvería a comprar sin ningún problema."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52044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8B8B9C"/>
                </a:solidFill>
                <a:latin typeface="Helvetica Neue"/>
              </a:rPr>
              <a:t>— Z., PRIMER COMPRADOR · LA MARINA EN LA HISTORIA DE CHILE · 7 ABRIL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29768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A77A0E"/>
                </a:solidFill>
                <a:latin typeface="Helvetica Neue"/>
              </a:rPr>
              <a:t>QUÉ VENDEMOS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709160"/>
            <a:ext cx="548640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2D2E3D"/>
                </a:solidFill>
                <a:latin typeface="Helvetica Neue"/>
              </a:rPr>
              <a:t>Libros raros a precio 40-60% bajo IberLibro/Buscalibre. El bundle de Camilo incluyó Parra ($23.992, IberLibro €30-50) y De Rokha edición cubana 1991 agotada ($14.000). Son joyas, no commodity.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429768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A77A0E"/>
                </a:solidFill>
                <a:latin typeface="Helvetica Neue"/>
              </a:rPr>
              <a:t>POR QUÉ NO MORIREMOS EN COMMODITY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4709160"/>
            <a:ext cx="548640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2D2E3D"/>
                </a:solidFill>
                <a:latin typeface="Helvetica Neue"/>
              </a:rPr>
              <a:t>Quien llega a tuslibros ya filtró Buscalibre y MercadoLibre. Busca lo que esos no tienen. Competir en best-seller moderno es suicidio. La ventaja defendible es la curación.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355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8B8B9C"/>
                </a:solidFill>
                <a:latin typeface="Helvetica Neue"/>
              </a:rPr>
              <a:t>Publicados 3 libros el 16 abril a las 21h. Vendidos en bundle 14 horas después, 17 abril 15h. Tiempo entre publicación y venta en caso de libro raro + precio competitivo: menos de un día.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00800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8B8B9C"/>
                </a:solidFill>
                <a:latin typeface="Helvetica Neue"/>
              </a:rPr>
              <a:t>06 / 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E0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A77A0E"/>
                </a:solidFill>
                <a:latin typeface="Helvetica Neue"/>
              </a:rPr>
              <a:t>MERCADO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800" b="0" i="0">
                <a:solidFill>
                  <a:srgbClr val="3D4670"/>
                </a:solidFill>
                <a:latin typeface="Georgia"/>
              </a:rPr>
              <a:t>TAM, SAM, SOM — conservador.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828800"/>
            <a:ext cx="11064240" cy="548640"/>
          </a:xfrm>
          <a:prstGeom prst="rect">
            <a:avLst/>
          </a:prstGeom>
          <a:solidFill>
            <a:srgbClr val="F3EA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828800"/>
            <a:ext cx="36576" cy="548640"/>
          </a:xfrm>
          <a:prstGeom prst="rect">
            <a:avLst/>
          </a:prstGeom>
          <a:solidFill>
            <a:srgbClr val="A77A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965960"/>
            <a:ext cx="10789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2D2E3D"/>
                </a:solidFill>
                <a:latin typeface="Helvetica Neue"/>
              </a:rPr>
              <a:t>TAM (Total Addressable): techo teórico  ·  SAM (Serviceable Addressable): lo que el producto realmente puede servir  ·  SOM (Serviceable Obtainable): lo realista capturar en 3 años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651760"/>
            <a:ext cx="35661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800" b="0" i="0">
                <a:solidFill>
                  <a:srgbClr val="A77A0E"/>
                </a:solidFill>
                <a:latin typeface="Georgia"/>
              </a:rPr>
              <a:t>$10 mil millones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794760"/>
            <a:ext cx="3566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8B8B9C"/>
                </a:solidFill>
                <a:latin typeface="Helvetica Neue"/>
              </a:rPr>
              <a:t>CLP / AÑO · TAM CHILE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297680"/>
            <a:ext cx="35661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2D2E3D"/>
                </a:solidFill>
                <a:latin typeface="Helvetica Neue"/>
              </a:rPr>
              <a:t>Total de libros usados transados en Chile al año entre todos los canales. ~USD 10.5M.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43400" y="2651760"/>
            <a:ext cx="35661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800" b="0" i="0">
                <a:solidFill>
                  <a:srgbClr val="A77A0E"/>
                </a:solidFill>
                <a:latin typeface="Georgia"/>
              </a:rPr>
              <a:t>$3-4 mil millones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43400" y="3794760"/>
            <a:ext cx="3566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8B8B9C"/>
                </a:solidFill>
                <a:latin typeface="Helvetica Neue"/>
              </a:rPr>
              <a:t>CLP / AÑO · SAM URBANO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43400" y="4297680"/>
            <a:ext cx="35661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2D2E3D"/>
                </a:solidFill>
                <a:latin typeface="Helvetica Neue"/>
              </a:rPr>
              <a:t>Santiago, Valparaíso, Concepción. Donde el mapa y courier funcionan. ~USD 3.2-4.2M.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38160" y="2651760"/>
            <a:ext cx="35661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800" b="0" i="0">
                <a:solidFill>
                  <a:srgbClr val="A77A0E"/>
                </a:solidFill>
                <a:latin typeface="Georgia"/>
              </a:rPr>
              <a:t>$300-400 millones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8160" y="3794760"/>
            <a:ext cx="3566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8B8B9C"/>
                </a:solidFill>
                <a:latin typeface="Helvetica Neue"/>
              </a:rPr>
              <a:t>CLP / AÑO · SOM AÑO 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38160" y="4297680"/>
            <a:ext cx="35661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2D2E3D"/>
                </a:solidFill>
                <a:latin typeface="Helvetica Neue"/>
              </a:rPr>
              <a:t>Con 10% de penetración digital del mercado urbano, GMV objetivo. ~USD 315-420k.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3492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A77A0E"/>
                </a:solidFill>
                <a:latin typeface="Helvetica Neue"/>
              </a:rPr>
              <a:t>CRECIMIENTO ESTRUCTURAL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76072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2D2E3D"/>
                </a:solidFill>
                <a:latin typeface="Helvetica Neue"/>
              </a:rPr>
              <a:t>→  Mercado del libro físico en Chile crece 8-12% anual post-pandemia (Cámara Chilena del Libro)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007608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2D2E3D"/>
                </a:solidFill>
                <a:latin typeface="Helvetica Neue"/>
              </a:rPr>
              <a:t>→  Economía circular + sustentabilidad empuja usado vs. nuevo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254496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2D2E3D"/>
                </a:solidFill>
                <a:latin typeface="Helvetica Neue"/>
              </a:rPr>
              <a:t>→  Generación universitaria busca libros de cátedra usados (nicho de alta recurrencia)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501383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2D2E3D"/>
                </a:solidFill>
                <a:latin typeface="Helvetica Neue"/>
              </a:rPr>
              <a:t>→  Coleccionismo en alza: bibliófilos chilenos pagan CLP 50-300k por primera edición nacional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400800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8B8B9C"/>
                </a:solidFill>
                <a:latin typeface="Helvetica Neue"/>
              </a:rPr>
              <a:t>07 / 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A77A0E"/>
                </a:solidFill>
                <a:latin typeface="Helvetica Neue"/>
              </a:rPr>
              <a:t>COMPETENCIA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0" i="0">
                <a:solidFill>
                  <a:srgbClr val="2D2E3D"/>
                </a:solidFill>
                <a:latin typeface="Georgia"/>
              </a:rPr>
              <a:t>No competimos contra ellos —</a:t>
            </a:r>
          </a:p>
          <a:p>
            <a:pPr algn="l"/>
            <a:r>
              <a:rPr sz="3200" b="0" i="0">
                <a:solidFill>
                  <a:srgbClr val="2D2E3D"/>
                </a:solidFill>
                <a:latin typeface="Georgia"/>
              </a:rPr>
              <a:t>resolvemos lo que ninguno resuelve.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834640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A77A0E"/>
                </a:solidFill>
                <a:latin typeface="Helvetica Neue"/>
              </a:rPr>
              <a:t>JUGADOR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34640" y="2834640"/>
            <a:ext cx="1371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A77A0E"/>
                </a:solidFill>
                <a:latin typeface="Helvetica Neue"/>
              </a:rPr>
              <a:t>LIBRO NUEVO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06240" y="2834640"/>
            <a:ext cx="1737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A77A0E"/>
                </a:solidFill>
                <a:latin typeface="Helvetica Neue"/>
              </a:rPr>
              <a:t>LIBRO USADO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0" y="2834640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A77A0E"/>
                </a:solidFill>
                <a:latin typeface="Helvetica Neue"/>
              </a:rPr>
              <a:t>CURACIÓN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0" y="2834640"/>
            <a:ext cx="12801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A77A0E"/>
                </a:solidFill>
                <a:latin typeface="Helvetica Neue"/>
              </a:rPr>
              <a:t>MAPA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2560" y="2834640"/>
            <a:ext cx="2560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A77A0E"/>
                </a:solidFill>
                <a:latin typeface="Helvetica Neue"/>
              </a:rPr>
              <a:t>SPLIT PAY.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246120"/>
            <a:ext cx="11064240" cy="36576"/>
          </a:xfrm>
          <a:prstGeom prst="rect">
            <a:avLst/>
          </a:prstGeom>
          <a:solidFill>
            <a:srgbClr val="8B8B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338328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2D2E3D"/>
                </a:solidFill>
                <a:latin typeface="Helvetica Neue"/>
              </a:rPr>
              <a:t>Buscalibre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34640" y="3383280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2D2E3D"/>
                </a:solidFill>
                <a:latin typeface="Helvetica Neue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06240" y="3383280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2D2E3D"/>
                </a:solidFill>
                <a:latin typeface="Helvetica Neue"/>
              </a:rPr>
              <a:t>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0" y="338328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2D2E3D"/>
                </a:solidFill>
                <a:latin typeface="Helvetica Neue"/>
              </a:rPr>
              <a:t>Editorial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0" y="338328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2D2E3D"/>
                </a:solidFill>
                <a:latin typeface="Helvetica Neue"/>
              </a:rPr>
              <a:t>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52560" y="338328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2D2E3D"/>
                </a:solidFill>
                <a:latin typeface="Helvetica Neue"/>
              </a:rPr>
              <a:t>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388620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2D2E3D"/>
                </a:solidFill>
                <a:latin typeface="Helvetica Neue"/>
              </a:rPr>
              <a:t>MercadoLibre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40" y="3886200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2D2E3D"/>
                </a:solidFill>
                <a:latin typeface="Helvetica Neue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06240" y="3886200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2D2E3D"/>
                </a:solidFill>
                <a:latin typeface="Helvetica Neue"/>
              </a:rPr>
              <a:t>commodity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0" y="388620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2D2E3D"/>
                </a:solidFill>
                <a:latin typeface="Helvetica Neue"/>
              </a:rPr>
              <a:t>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0" y="388620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2D2E3D"/>
                </a:solidFill>
                <a:latin typeface="Helvetica Neue"/>
              </a:rPr>
              <a:t>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52560" y="388620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2D2E3D"/>
                </a:solidFill>
                <a:latin typeface="Helvetica Neue"/>
              </a:rPr>
              <a:t>Parcial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438912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2D2E3D"/>
                </a:solidFill>
                <a:latin typeface="Helvetica Neue"/>
              </a:rPr>
              <a:t>Facebook MP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34640" y="4389120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2D2E3D"/>
                </a:solidFill>
                <a:latin typeface="Helvetica Neue"/>
              </a:rPr>
              <a:t>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06240" y="4389120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2D2E3D"/>
                </a:solidFill>
                <a:latin typeface="Helvetica Neue"/>
              </a:rPr>
              <a:t>informal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00" y="438912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2D2E3D"/>
                </a:solidFill>
                <a:latin typeface="Helvetica Neue"/>
              </a:rP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0" y="438912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2D2E3D"/>
                </a:solidFill>
                <a:latin typeface="Helvetica Neue"/>
              </a:rPr>
              <a:t>—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52560" y="438912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2D2E3D"/>
                </a:solidFill>
                <a:latin typeface="Helvetica Neue"/>
              </a:rPr>
              <a:t>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489204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2D2E3D"/>
                </a:solidFill>
                <a:latin typeface="Helvetica Neue"/>
              </a:rPr>
              <a:t>Librerías viejo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34640" y="4892040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2D2E3D"/>
                </a:solidFill>
                <a:latin typeface="Helvetica Neue"/>
              </a:rPr>
              <a:t>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06240" y="4892040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2D2E3D"/>
                </a:solidFill>
                <a:latin typeface="Helvetica Neue"/>
              </a:rPr>
              <a:t>offline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43600" y="489204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2D2E3D"/>
                </a:solidFill>
                <a:latin typeface="Helvetica Neue"/>
              </a:rPr>
              <a:t>Curador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0" y="489204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2D2E3D"/>
                </a:solidFill>
                <a:latin typeface="Helvetica Neue"/>
              </a:rPr>
              <a:t>—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052560" y="489204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2D2E3D"/>
                </a:solidFill>
                <a:latin typeface="Helvetica Neue"/>
              </a:rPr>
              <a:t>—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48640" y="5330952"/>
            <a:ext cx="11064240" cy="457200"/>
          </a:xfrm>
          <a:prstGeom prst="rect">
            <a:avLst/>
          </a:prstGeom>
          <a:solidFill>
            <a:srgbClr val="F0E4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48640" y="539496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2D2E3D"/>
                </a:solidFill>
                <a:latin typeface="Helvetica Neue"/>
              </a:rPr>
              <a:t>tuslibros.cl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834640" y="5394960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2D2E3D"/>
                </a:solidFill>
                <a:latin typeface="Helvetica Neue"/>
              </a:rPr>
              <a:t>—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06240" y="5394960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2D2E3D"/>
                </a:solidFill>
                <a:latin typeface="Helvetica Neue"/>
              </a:rPr>
              <a:t>curado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943600" y="539496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2D2E3D"/>
                </a:solidFill>
                <a:latin typeface="Helvetica Neue"/>
              </a:rPr>
              <a:t>featured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0" y="539496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2D2E3D"/>
                </a:solidFill>
                <a:latin typeface="Helvetica Neue"/>
              </a:rPr>
              <a:t>✓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052560" y="539496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2D2E3D"/>
                </a:solidFill>
                <a:latin typeface="Helvetica Neue"/>
              </a:rPr>
              <a:t>✓ OAuth MP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621792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8B8B9C"/>
                </a:solidFill>
                <a:latin typeface="Helvetica Neue"/>
              </a:rPr>
              <a:t>La posición competitiva no es "otro Buscalibre" ni "otro MercadoLibre". Es la librería de viejo de Santiago, pero online, con mapa, con pago integrado y con foto-a-catálogo.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972800" y="6400800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8B8B9C"/>
                </a:solidFill>
                <a:latin typeface="Helvetica Neue"/>
              </a:rPr>
              <a:t>08 / 11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E0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A77A0E"/>
                </a:solidFill>
                <a:latin typeface="Helvetica Neue"/>
              </a:rPr>
              <a:t>EQUIPO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800" b="0" i="0">
                <a:solidFill>
                  <a:srgbClr val="3D4670"/>
                </a:solidFill>
                <a:latin typeface="Georgia"/>
              </a:rPr>
              <a:t>Founder única, velocity probada.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37744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A77A0E"/>
                </a:solidFill>
                <a:latin typeface="Helvetica Neue"/>
              </a:rPr>
              <a:t>VERÓNICA VELÁSQUEZ — FOUNDER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834640"/>
            <a:ext cx="53035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2D2E3D"/>
                </a:solidFill>
                <a:latin typeface="Helvetica Neue"/>
              </a:rPr>
              <a:t>Background en economía y consultoría. Ex-economics.cl. Decisión deliberada de operar sin cofundador técnico.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530352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1">
                <a:solidFill>
                  <a:srgbClr val="2D2E3D"/>
                </a:solidFill>
                <a:latin typeface="Helvetica Neue"/>
              </a:rPr>
              <a:t>No es limitación: es el modelo. Dev asistido por Claude Code me permite iterar producción en horas lo que una startup tradicional iteraría en semanas.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237744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A77A0E"/>
                </a:solidFill>
                <a:latin typeface="Helvetica Neue"/>
              </a:rPr>
              <a:t>EVIDENCIA DE EJECUCIÓN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2834640"/>
            <a:ext cx="56692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2D2E3D"/>
                </a:solidFill>
                <a:latin typeface="Helvetica Neue"/>
              </a:rPr>
              <a:t>→  7 días desde 0 hasta producción con MP + Shipit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3429000"/>
            <a:ext cx="56692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2D2E3D"/>
                </a:solidFill>
                <a:latin typeface="Helvetica Neue"/>
              </a:rPr>
              <a:t>→  18 días de iteración continua: 207 listings curados, 3 librerías onboardeadas, 3 compradores, 11 libros vendidos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4023360"/>
            <a:ext cx="56692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2D2E3D"/>
                </a:solidFill>
                <a:latin typeface="Helvetica Neue"/>
              </a:rPr>
              <a:t>→  Deploy diario a producción sin regresiones críticas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4617720"/>
            <a:ext cx="56692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2D2E3D"/>
                </a:solidFill>
                <a:latin typeface="Helvetica Neue"/>
              </a:rPr>
              <a:t>→  Burn $45/mes: disciplina de capital desde día uno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5212080"/>
            <a:ext cx="56692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2D2E3D"/>
                </a:solidFill>
                <a:latin typeface="Helvetica Neue"/>
              </a:rPr>
              <a:t>→  Founder cerca del customer: respondí yo el primer email, yo cerré el primer testimonio, yo entregué el primer bundle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355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8B8B9C"/>
                </a:solidFill>
                <a:latin typeface="Helvetica Neue"/>
              </a:rPr>
              <a:t>El argumento tradicional contra un founder único es ejecución. La evidencia de los últimos 18 días responde eso antes de la pregunta.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0" y="6400800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8B8B9C"/>
                </a:solidFill>
                <a:latin typeface="Helvetica Neue"/>
              </a:rPr>
              <a:t>09 / 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A77A0E"/>
                </a:solidFill>
                <a:latin typeface="Helvetica Neue"/>
              </a:rPr>
              <a:t>PROPUESTA · BOOTSTRAP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0" i="0">
                <a:solidFill>
                  <a:srgbClr val="2D2E3D"/>
                </a:solidFill>
                <a:latin typeface="Georgia"/>
              </a:rPr>
              <a:t>USD 40-60k · 3-5% · pre-money USD 1.2M.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1">
                <a:solidFill>
                  <a:srgbClr val="8B8B9C"/>
                </a:solidFill>
                <a:latin typeface="Helvetica Neue"/>
              </a:rPr>
              <a:t>$38 – $57 millones CLP  ·  ronda ángel  ·  SAFE o nota convertible  ·  12 meses opex puro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640080" cy="36576"/>
          </a:xfrm>
          <a:prstGeom prst="rect">
            <a:avLst/>
          </a:prstGeom>
          <a:solidFill>
            <a:srgbClr val="A77A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224028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A77A0E"/>
                </a:solidFill>
                <a:latin typeface="Helvetica Neue"/>
              </a:rPr>
              <a:t>VALORIZACIÓN TRIANGULADA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651760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2D2E3D"/>
                </a:solidFill>
                <a:latin typeface="Helvetica Neue"/>
              </a:rPr>
              <a:t>Berkus Method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06240" y="2651760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2D2E3D"/>
                </a:solidFill>
                <a:latin typeface="Helvetica Neue"/>
              </a:rPr>
              <a:t>USD 1.6M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999232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2D2E3D"/>
                </a:solidFill>
                <a:latin typeface="Helvetica Neue"/>
              </a:rPr>
              <a:t>Scorecard vs. comparables LatAm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06240" y="2999232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2D2E3D"/>
                </a:solidFill>
                <a:latin typeface="Helvetica Neue"/>
              </a:rPr>
              <a:t>USD 1.42M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346704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2D2E3D"/>
                </a:solidFill>
                <a:latin typeface="Helvetica Neue"/>
              </a:rPr>
              <a:t>Replacement cost (piso)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06240" y="3346704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2D2E3D"/>
                </a:solidFill>
                <a:latin typeface="Helvetica Neue"/>
              </a:rPr>
              <a:t>USD 200k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694176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2D2E3D"/>
                </a:solidFill>
                <a:latin typeface="Helvetica Neue"/>
              </a:rPr>
              <a:t>Comparables Chile seed marketplace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06240" y="3694176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2D2E3D"/>
                </a:solidFill>
                <a:latin typeface="Helvetica Neue"/>
              </a:rPr>
              <a:t>USD 1.2-1.4M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4005072"/>
            <a:ext cx="5486400" cy="365760"/>
          </a:xfrm>
          <a:prstGeom prst="rect">
            <a:avLst/>
          </a:prstGeom>
          <a:solidFill>
            <a:srgbClr val="F0E4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4041648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2D2E3D"/>
                </a:solidFill>
                <a:latin typeface="Helvetica Neue"/>
              </a:rPr>
              <a:t>Pre-money objetivo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06240" y="4041648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 i="0">
                <a:solidFill>
                  <a:srgbClr val="2D2E3D"/>
                </a:solidFill>
                <a:latin typeface="Helvetica Neue"/>
              </a:rPr>
              <a:t>USD 1.2M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4526280"/>
            <a:ext cx="5486400" cy="1737360"/>
          </a:xfrm>
          <a:prstGeom prst="rect">
            <a:avLst/>
          </a:prstGeom>
          <a:solidFill>
            <a:srgbClr val="EE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4526280"/>
            <a:ext cx="36576" cy="1737360"/>
          </a:xfrm>
          <a:prstGeom prst="rect">
            <a:avLst/>
          </a:prstGeom>
          <a:solidFill>
            <a:srgbClr val="A77A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461772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A77A0E"/>
                </a:solidFill>
                <a:latin typeface="Helvetica Neue"/>
              </a:rPr>
              <a:t>MÉTODOS, EN BREVE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49377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2D2E3D"/>
                </a:solidFill>
                <a:latin typeface="Helvetica Neue"/>
              </a:rPr>
              <a:t>Berkus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48840" y="4937760"/>
            <a:ext cx="38404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2D2E3D"/>
                </a:solidFill>
                <a:latin typeface="Helvetica Neue"/>
              </a:rPr>
              <a:t>asigna hasta USD 500k a 5 componentes (idea, producto, equipo, alianzas, ventas).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537667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2D2E3D"/>
                </a:solidFill>
                <a:latin typeface="Helvetica Neue"/>
              </a:rPr>
              <a:t>Scorecard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48840" y="5376672"/>
            <a:ext cx="38404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2D2E3D"/>
                </a:solidFill>
                <a:latin typeface="Helvetica Neue"/>
              </a:rPr>
              <a:t>compara contra comparables seed LatAm, ajusta por fuerzas relativas.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5815584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2D2E3D"/>
                </a:solidFill>
                <a:latin typeface="Helvetica Neue"/>
              </a:rPr>
              <a:t>Replacement cost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48840" y="5815584"/>
            <a:ext cx="38404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2D2E3D"/>
                </a:solidFill>
                <a:latin typeface="Helvetica Neue"/>
              </a:rPr>
              <a:t>cuánto costaría reconstruir lo construido. Piso de negociación.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9360" y="224028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A77A0E"/>
                </a:solidFill>
                <a:latin typeface="Helvetica Neue"/>
              </a:rPr>
              <a:t>USO DE FONDOS · 12 MESES  (USD 50k base)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9360" y="265176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2D2E3D"/>
                </a:solidFill>
                <a:latin typeface="Helvetica Neue"/>
              </a:rPr>
              <a:t>Marketing digital + GTM (Kit Metralleta)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881360" y="2651760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 i="0">
                <a:solidFill>
                  <a:srgbClr val="2D2E3D"/>
                </a:solidFill>
                <a:latin typeface="Helvetica Neue"/>
              </a:rPr>
              <a:t>45%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9360" y="301752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2D2E3D"/>
                </a:solidFill>
                <a:latin typeface="Helvetica Neue"/>
              </a:rPr>
              <a:t>Activación librerías + dev apoyo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881360" y="3017520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 i="0">
                <a:solidFill>
                  <a:srgbClr val="2D2E3D"/>
                </a:solidFill>
                <a:latin typeface="Helvetica Neue"/>
              </a:rPr>
              <a:t>30%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09360" y="338328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2D2E3D"/>
                </a:solidFill>
                <a:latin typeface="Helvetica Neue"/>
              </a:rPr>
              <a:t>Features clave (mobile, reseñas)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881360" y="3383280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 i="0">
                <a:solidFill>
                  <a:srgbClr val="2D2E3D"/>
                </a:solidFill>
                <a:latin typeface="Helvetica Neue"/>
              </a:rPr>
              <a:t>15%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0" y="3749039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2D2E3D"/>
                </a:solidFill>
                <a:latin typeface="Helvetica Neue"/>
              </a:rPr>
              <a:t>Infra + reserva operativa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81360" y="3749039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 i="0">
                <a:solidFill>
                  <a:srgbClr val="2D2E3D"/>
                </a:solidFill>
                <a:latin typeface="Helvetica Neue"/>
              </a:rPr>
              <a:t>10%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09360" y="4206240"/>
            <a:ext cx="5486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8B8B9C"/>
                </a:solidFill>
                <a:latin typeface="Helvetica Neue"/>
              </a:rPr>
              <a:t>Founder subsidia su tiempo con ahorros. 100% del capital va a ejecución de mercado. Break-even mes 14 en escenario bull.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09360" y="49377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A77A0E"/>
                </a:solidFill>
                <a:latin typeface="Helvetica Neue"/>
              </a:rPr>
              <a:t>HITO A 12 MESES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09360" y="5349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2D2E3D"/>
                </a:solidFill>
                <a:latin typeface="Helvetica Neue"/>
              </a:rPr>
              <a:t>→  20 vendedores activos · 2 alianzas universitarias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09360" y="5669279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2D2E3D"/>
                </a:solidFill>
                <a:latin typeface="Helvetica Neue"/>
              </a:rPr>
              <a:t>→  $5 millones CLP MRR · 500+ transacciones/mes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09360" y="59893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2D2E3D"/>
                </a:solidFill>
                <a:latin typeface="Helvetica Neue"/>
              </a:rPr>
              <a:t>→  Listo para ronda seed USD 500k-1M (donde sí va salario)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0" y="6400800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8B8B9C"/>
                </a:solidFill>
                <a:latin typeface="Helvetica Neue"/>
              </a:rPr>
              <a:t>10 / 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E0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A77A0E"/>
                </a:solidFill>
                <a:latin typeface="Helvetica Neue"/>
              </a:rPr>
              <a:t>HABLEMOS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000" b="0" i="0">
                <a:solidFill>
                  <a:srgbClr val="2D2E3D"/>
                </a:solidFill>
                <a:latin typeface="Georgia"/>
              </a:rPr>
              <a:t>El mejor momento para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19456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000" b="0" i="1">
                <a:solidFill>
                  <a:srgbClr val="A77A0E"/>
                </a:solidFill>
                <a:latin typeface="Georgia"/>
              </a:rPr>
              <a:t>entrar es ahora.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840480"/>
            <a:ext cx="109728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2D2E3D"/>
                </a:solidFill>
                <a:latin typeface="Helvetica Neue"/>
              </a:rPr>
              <a:t>En 18 días el producto está en producción, hay compradores reales con ciclo cerrado, 3 librerías profesionales llegaron solas y el primer testimonio autorizado está publicado. El capital que busco es para activar lo que ya está tocando la puerta — no para construir algo desde cero.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5394960"/>
            <a:ext cx="11064240" cy="1188720"/>
          </a:xfrm>
          <a:prstGeom prst="rect">
            <a:avLst/>
          </a:prstGeom>
          <a:solidFill>
            <a:srgbClr val="F3EAD5"/>
          </a:solidFill>
          <a:ln w="19050">
            <a:solidFill>
              <a:srgbClr val="A77A0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553212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A77A0E"/>
                </a:solidFill>
                <a:latin typeface="Helvetica Neue"/>
              </a:rPr>
              <a:t>VERÓNICA VELÁSQUEZ — FOUNDER · TUSLIBROS.CL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89788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2D2E3D"/>
                </a:solidFill>
                <a:latin typeface="Helvetica Neue"/>
              </a:rPr>
              <a:t>vero@economics.cl · Santiago · Providencia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0" y="5532120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A77A0E"/>
                </a:solidFill>
                <a:latin typeface="Helvetica Neue"/>
              </a:rPr>
              <a:t>PRÓXIMOS PASOS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0" y="5897880"/>
            <a:ext cx="4114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2D2E3D"/>
                </a:solidFill>
                <a:latin typeface="Helvetica Neue"/>
              </a:rPr>
              <a:t>Deep dive GA4 · Proyección 36 meses · Term sheet 1-2 semanas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400800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8B8B9C"/>
                </a:solidFill>
                <a:latin typeface="Helvetica Neue"/>
              </a:rPr>
              <a:t>11 / 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