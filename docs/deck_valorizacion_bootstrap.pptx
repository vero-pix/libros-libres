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7"/>
  </p:normalViewPr>
  <p:slideViewPr>
    <p:cSldViewPr snapToGrid="0" snapToObjects="1">
      <p:cViewPr>
        <p:scale>
          <a:sx n="76" d="100"/>
          <a:sy n="76" d="100"/>
        </p:scale>
        <p:origin x="-48" y="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3840480" cy="320040"/>
          </a:xfrm>
          <a:prstGeom prst="roundRect">
            <a:avLst>
              <a:gd name="adj" fmla="val 50000"/>
            </a:avLst>
          </a:prstGeom>
          <a:solidFill>
            <a:srgbClr val="A77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Ins="137160" bIns="36576" rtlCol="0" anchor="ctr"/>
          <a:lstStyle/>
          <a:p>
            <a:pPr algn="ctr"/>
            <a:r>
              <a:rPr sz="1000" b="1">
                <a:solidFill>
                  <a:srgbClr val="EDE0C1"/>
                </a:solidFill>
                <a:latin typeface="Helvetica Neue"/>
              </a:rPr>
              <a:t>PROPUESTA DE INVERSIÓN · ABRIL 2026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097280"/>
            <a:ext cx="548640" cy="548640"/>
          </a:xfrm>
          <a:prstGeom prst="ellipse">
            <a:avLst/>
          </a:prstGeom>
          <a:noFill/>
          <a:ln w="25400">
            <a:solidFill>
              <a:srgbClr val="A77A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>
                <a:solidFill>
                  <a:srgbClr val="A77A0E"/>
                </a:solidFill>
                <a:latin typeface="Georgia"/>
              </a:rPr>
              <a:t>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0" b="0" i="0">
                <a:solidFill>
                  <a:srgbClr val="2D2E3D"/>
                </a:solidFill>
                <a:latin typeface="Georgia"/>
              </a:rPr>
              <a:t>tuslibros.cl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2D2E3D"/>
                </a:solidFill>
                <a:latin typeface="Helvetica Neue"/>
              </a:rPr>
              <a:t>Los libros de tu ciudad.</a:t>
            </a:r>
          </a:p>
          <a:p>
            <a:pPr algn="l"/>
            <a:r>
              <a:rPr sz="2000" b="0" i="0">
                <a:solidFill>
                  <a:srgbClr val="2D2E3D"/>
                </a:solidFill>
                <a:latin typeface="Helvetica Neue"/>
              </a:rPr>
              <a:t>Marketplace de libros usados con mapa, curación y split payment.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093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VERÓNICA VELÁSQUEZ · FOUNDER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0936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8B8B9C"/>
                </a:solidFill>
                <a:latin typeface="Helvetica Neue"/>
              </a:rPr>
              <a:t>SANTIAGO, CHILE · ABRIL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0" i="0" dirty="0">
                <a:solidFill>
                  <a:srgbClr val="2D2E3D"/>
                </a:solidFill>
                <a:latin typeface="Georgia"/>
              </a:rPr>
              <a:t>El mercado de </a:t>
            </a:r>
            <a:r>
              <a:rPr sz="4200" b="0" i="0" dirty="0" err="1">
                <a:solidFill>
                  <a:srgbClr val="2D2E3D"/>
                </a:solidFill>
                <a:latin typeface="Georgia"/>
              </a:rPr>
              <a:t>libros</a:t>
            </a:r>
            <a:r>
              <a:rPr sz="4200" b="0" i="0" dirty="0">
                <a:solidFill>
                  <a:srgbClr val="2D2E3D"/>
                </a:solidFill>
                <a:latin typeface="Georgia"/>
              </a:rPr>
              <a:t> </a:t>
            </a:r>
            <a:r>
              <a:rPr sz="4200" b="0" i="0" dirty="0" err="1">
                <a:solidFill>
                  <a:srgbClr val="2D2E3D"/>
                </a:solidFill>
                <a:latin typeface="Georgia"/>
              </a:rPr>
              <a:t>usados</a:t>
            </a:r>
            <a:r>
              <a:rPr sz="4200" b="0" i="0" dirty="0">
                <a:solidFill>
                  <a:srgbClr val="2D2E3D"/>
                </a:solidFill>
                <a:latin typeface="Georgia"/>
              </a:rPr>
              <a:t> </a:t>
            </a:r>
            <a:r>
              <a:rPr sz="4200" b="0" i="0" dirty="0" err="1">
                <a:solidFill>
                  <a:srgbClr val="2D2E3D"/>
                </a:solidFill>
                <a:latin typeface="Georgia"/>
              </a:rPr>
              <a:t>en</a:t>
            </a:r>
            <a:r>
              <a:rPr sz="4200" b="0" i="0" dirty="0">
                <a:solidFill>
                  <a:srgbClr val="2D2E3D"/>
                </a:solidFill>
                <a:latin typeface="Georgia"/>
              </a:rPr>
              <a:t> Chile es grande,</a:t>
            </a:r>
          </a:p>
          <a:p>
            <a:pPr algn="l"/>
            <a:r>
              <a:rPr sz="4200" b="0" i="0" dirty="0" err="1">
                <a:solidFill>
                  <a:srgbClr val="2D2E3D"/>
                </a:solidFill>
                <a:latin typeface="Georgia"/>
              </a:rPr>
              <a:t>pero</a:t>
            </a:r>
            <a:r>
              <a:rPr sz="4200" b="0" i="0" dirty="0">
                <a:solidFill>
                  <a:srgbClr val="2D2E3D"/>
                </a:solidFill>
                <a:latin typeface="Georgia"/>
              </a:rPr>
              <a:t> </a:t>
            </a:r>
            <a:r>
              <a:rPr sz="4200" b="0" i="0" dirty="0" err="1">
                <a:solidFill>
                  <a:srgbClr val="2D2E3D"/>
                </a:solidFill>
                <a:latin typeface="Georgia"/>
              </a:rPr>
              <a:t>está</a:t>
            </a:r>
            <a:r>
              <a:rPr sz="4200" b="0" i="0" dirty="0">
                <a:solidFill>
                  <a:srgbClr val="2D2E3D"/>
                </a:solidFill>
                <a:latin typeface="Georgia"/>
              </a:rPr>
              <a:t> invisible.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0" i="0">
                <a:solidFill>
                  <a:srgbClr val="A77A0E"/>
                </a:solidFill>
                <a:latin typeface="Georgia"/>
              </a:rPr>
              <a:t>$8-12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05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MIL MILLONES CLP / AÑO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35661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Mercado estimado de libros usados en Chile, repartido entre MercadoLibre, Facebook Marketplace, librerías de viejo e intercambios informales. ~USD 8-12M.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310896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0" i="0">
                <a:solidFill>
                  <a:srgbClr val="A77A0E"/>
                </a:solidFill>
                <a:latin typeface="Georgia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44805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PLATAFORMA DIGITAL DEDICADA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4937760"/>
            <a:ext cx="35661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Buscalibre domina libro nuevo. MercadoLibre es commodity sin curación. Facebook no tiene pago integrado ni confianza. Las librerías de viejo siguen offline.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10896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0" i="0">
                <a:solidFill>
                  <a:srgbClr val="A77A0E"/>
                </a:solidFill>
                <a:latin typeface="Georgia"/>
              </a:rPr>
              <a:t>72%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4805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CATÁLOGO INVISIBLE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937760"/>
            <a:ext cx="35661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Antes de tuslibros: el libro usado que quieres existe, pero encontrarlo toma tres búsquedas, cero garantía y una conversación de WhatsApp con un desconocido.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8B8B9C"/>
                </a:solidFill>
                <a:latin typeface="Helvetica Neue"/>
              </a:rPr>
              <a:t>En Chile compramos ~45 millones de libros al año. El mercado de segunda vida existe, pero no tiene infraestructura digital. Nadie lo está resolviendo.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1695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0" i="0" dirty="0">
                <a:solidFill>
                  <a:srgbClr val="3D4670"/>
                </a:solidFill>
                <a:latin typeface="Georgia"/>
              </a:rPr>
              <a:t>Un marketplace con </a:t>
            </a:r>
            <a:r>
              <a:rPr sz="3800" b="0" i="0" dirty="0" err="1">
                <a:solidFill>
                  <a:srgbClr val="3D4670"/>
                </a:solidFill>
                <a:latin typeface="Georgia"/>
              </a:rPr>
              <a:t>tres</a:t>
            </a:r>
            <a:r>
              <a:rPr sz="3800" b="0" i="0" dirty="0">
                <a:solidFill>
                  <a:srgbClr val="3D4670"/>
                </a:solidFill>
                <a:latin typeface="Georgia"/>
              </a:rPr>
              <a:t> </a:t>
            </a:r>
            <a:r>
              <a:rPr sz="3800" b="0" i="0" dirty="0" err="1">
                <a:solidFill>
                  <a:srgbClr val="3D4670"/>
                </a:solidFill>
                <a:latin typeface="Georgia"/>
              </a:rPr>
              <a:t>diferenciadores</a:t>
            </a:r>
            <a:endParaRPr sz="3800" b="0" i="0" dirty="0">
              <a:solidFill>
                <a:srgbClr val="3D4670"/>
              </a:solidFill>
              <a:latin typeface="Georgia"/>
            </a:endParaRPr>
          </a:p>
          <a:p>
            <a:pPr algn="l"/>
            <a:endParaRPr sz="3800" b="0" i="0" dirty="0">
              <a:solidFill>
                <a:srgbClr val="3D4670"/>
              </a:solidFill>
              <a:latin typeface="Georg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77A0E"/>
                </a:solidFill>
                <a:latin typeface="Helvetica Neue"/>
              </a:rPr>
              <a:t>MAPA GEOLOCALIZADO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29000"/>
            <a:ext cx="35661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2D2E3D"/>
                </a:solidFill>
                <a:latin typeface="Helvetica Neue"/>
              </a:rPr>
              <a:t>Ves </a:t>
            </a:r>
            <a:r>
              <a:rPr sz="1300" b="0" i="0" dirty="0" err="1">
                <a:solidFill>
                  <a:srgbClr val="2D2E3D"/>
                </a:solidFill>
                <a:latin typeface="Helvetica Neue"/>
              </a:rPr>
              <a:t>los</a:t>
            </a:r>
            <a:r>
              <a:rPr sz="1300" b="0" i="0" dirty="0">
                <a:solidFill>
                  <a:srgbClr val="2D2E3D"/>
                </a:solidFill>
                <a:latin typeface="Helvetica Neue"/>
              </a:rPr>
              <a:t> </a:t>
            </a:r>
            <a:r>
              <a:rPr sz="1300" b="0" i="0" dirty="0" err="1">
                <a:solidFill>
                  <a:srgbClr val="2D2E3D"/>
                </a:solidFill>
                <a:latin typeface="Helvetica Neue"/>
              </a:rPr>
              <a:t>libros</a:t>
            </a:r>
            <a:r>
              <a:rPr sz="1300" b="0" i="0" dirty="0">
                <a:solidFill>
                  <a:srgbClr val="2D2E3D"/>
                </a:solidFill>
                <a:latin typeface="Helvetica Neue"/>
              </a:rPr>
              <a:t> </a:t>
            </a:r>
            <a:r>
              <a:rPr sz="1300" b="0" i="0" dirty="0" err="1">
                <a:solidFill>
                  <a:srgbClr val="2D2E3D"/>
                </a:solidFill>
                <a:latin typeface="Helvetica Neue"/>
              </a:rPr>
              <a:t>como</a:t>
            </a:r>
            <a:r>
              <a:rPr sz="1300" b="0" i="0" dirty="0">
                <a:solidFill>
                  <a:srgbClr val="2D2E3D"/>
                </a:solidFill>
                <a:latin typeface="Helvetica Neue"/>
              </a:rPr>
              <a:t> puntos </a:t>
            </a:r>
            <a:r>
              <a:rPr sz="1300" b="0" i="0" dirty="0" err="1">
                <a:solidFill>
                  <a:srgbClr val="2D2E3D"/>
                </a:solidFill>
                <a:latin typeface="Helvetica Neue"/>
              </a:rPr>
              <a:t>en</a:t>
            </a:r>
            <a:r>
              <a:rPr sz="1300" b="0" i="0" dirty="0">
                <a:solidFill>
                  <a:srgbClr val="2D2E3D"/>
                </a:solidFill>
                <a:latin typeface="Helvetica Neue"/>
              </a:rPr>
              <a:t> </a:t>
            </a:r>
            <a:r>
              <a:rPr sz="1300" b="0" i="0" dirty="0" err="1">
                <a:solidFill>
                  <a:srgbClr val="2D2E3D"/>
                </a:solidFill>
                <a:latin typeface="Helvetica Neue"/>
              </a:rPr>
              <a:t>el</a:t>
            </a:r>
            <a:r>
              <a:rPr sz="1300" b="0" i="0" dirty="0">
                <a:solidFill>
                  <a:srgbClr val="2D2E3D"/>
                </a:solidFill>
                <a:latin typeface="Helvetica Neue"/>
              </a:rPr>
              <a:t> </a:t>
            </a:r>
            <a:r>
              <a:rPr sz="1300" b="0" i="0" dirty="0" err="1">
                <a:solidFill>
                  <a:srgbClr val="2D2E3D"/>
                </a:solidFill>
                <a:latin typeface="Helvetica Neue"/>
              </a:rPr>
              <a:t>mapa</a:t>
            </a:r>
            <a:r>
              <a:rPr sz="1300" b="0" i="0" dirty="0">
                <a:solidFill>
                  <a:srgbClr val="2D2E3D"/>
                </a:solidFill>
                <a:latin typeface="Helvetica Neue"/>
              </a:rPr>
              <a:t> de </a:t>
            </a:r>
            <a:r>
              <a:rPr sz="1300" b="0" i="0" dirty="0" err="1">
                <a:solidFill>
                  <a:srgbClr val="2D2E3D"/>
                </a:solidFill>
                <a:latin typeface="Helvetica Neue"/>
              </a:rPr>
              <a:t>tu</a:t>
            </a:r>
            <a:r>
              <a:rPr sz="1300" b="0" i="0" dirty="0">
                <a:solidFill>
                  <a:srgbClr val="2D2E3D"/>
                </a:solidFill>
                <a:latin typeface="Helvetica Neue"/>
              </a:rPr>
              <a:t> ciudad. El </a:t>
            </a:r>
            <a:r>
              <a:rPr sz="1300" b="0" i="0" dirty="0" err="1">
                <a:solidFill>
                  <a:srgbClr val="2D2E3D"/>
                </a:solidFill>
                <a:latin typeface="Helvetica Neue"/>
              </a:rPr>
              <a:t>libro</a:t>
            </a:r>
            <a:r>
              <a:rPr sz="1300" b="0" i="0" dirty="0">
                <a:solidFill>
                  <a:srgbClr val="2D2E3D"/>
                </a:solidFill>
                <a:latin typeface="Helvetica Neue"/>
              </a:rPr>
              <a:t> </a:t>
            </a:r>
            <a:r>
              <a:rPr sz="1300" b="0" i="0" dirty="0" err="1">
                <a:solidFill>
                  <a:srgbClr val="2D2E3D"/>
                </a:solidFill>
                <a:latin typeface="Helvetica Neue"/>
              </a:rPr>
              <a:t>más</a:t>
            </a:r>
            <a:r>
              <a:rPr sz="1300" b="0" i="0" dirty="0">
                <a:solidFill>
                  <a:srgbClr val="2D2E3D"/>
                </a:solidFill>
                <a:latin typeface="Helvetica Neue"/>
              </a:rPr>
              <a:t> </a:t>
            </a:r>
            <a:r>
              <a:rPr sz="1300" b="0" i="0" dirty="0" err="1">
                <a:solidFill>
                  <a:srgbClr val="2D2E3D"/>
                </a:solidFill>
                <a:latin typeface="Helvetica Neue"/>
              </a:rPr>
              <a:t>cercano</a:t>
            </a:r>
            <a:r>
              <a:rPr sz="1300" b="0" i="0" dirty="0">
                <a:solidFill>
                  <a:srgbClr val="2D2E3D"/>
                </a:solidFill>
                <a:latin typeface="Helvetica Neue"/>
              </a:rPr>
              <a:t> es </a:t>
            </a:r>
            <a:r>
              <a:rPr sz="1300" b="0" i="0" dirty="0" err="1">
                <a:solidFill>
                  <a:srgbClr val="2D2E3D"/>
                </a:solidFill>
                <a:latin typeface="Helvetica Neue"/>
              </a:rPr>
              <a:t>el</a:t>
            </a:r>
            <a:r>
              <a:rPr sz="1300" b="0" i="0" dirty="0">
                <a:solidFill>
                  <a:srgbClr val="2D2E3D"/>
                </a:solidFill>
                <a:latin typeface="Helvetica Neue"/>
              </a:rPr>
              <a:t> </a:t>
            </a:r>
            <a:r>
              <a:rPr sz="1300" b="0" i="0" dirty="0" err="1">
                <a:solidFill>
                  <a:srgbClr val="2D2E3D"/>
                </a:solidFill>
                <a:latin typeface="Helvetica Neue"/>
              </a:rPr>
              <a:t>mejor</a:t>
            </a:r>
            <a:r>
              <a:rPr sz="1300" b="0" i="0" dirty="0">
                <a:solidFill>
                  <a:srgbClr val="2D2E3D"/>
                </a:solidFill>
                <a:latin typeface="Helvetica Neue"/>
              </a:rPr>
              <a:t> </a:t>
            </a:r>
            <a:r>
              <a:rPr sz="1300" b="0" i="0" dirty="0" err="1">
                <a:solidFill>
                  <a:srgbClr val="2D2E3D"/>
                </a:solidFill>
                <a:latin typeface="Helvetica Neue"/>
              </a:rPr>
              <a:t>resultado</a:t>
            </a:r>
            <a:r>
              <a:rPr sz="1300" b="0" i="0" dirty="0">
                <a:solidFill>
                  <a:srgbClr val="2D2E3D"/>
                </a:solidFill>
                <a:latin typeface="Helvetica Neue"/>
              </a:rPr>
              <a:t>. </a:t>
            </a:r>
            <a:r>
              <a:rPr sz="1300" b="0" i="0" dirty="0" err="1">
                <a:solidFill>
                  <a:srgbClr val="2D2E3D"/>
                </a:solidFill>
                <a:latin typeface="Helvetica Neue"/>
              </a:rPr>
              <a:t>Experiencia</a:t>
            </a:r>
            <a:r>
              <a:rPr sz="1300" b="0" i="0" dirty="0">
                <a:solidFill>
                  <a:srgbClr val="2D2E3D"/>
                </a:solidFill>
                <a:latin typeface="Helvetica Neue"/>
              </a:rPr>
              <a:t> </a:t>
            </a:r>
            <a:r>
              <a:rPr sz="1300" b="0" i="0" dirty="0" err="1">
                <a:solidFill>
                  <a:srgbClr val="2D2E3D"/>
                </a:solidFill>
                <a:latin typeface="Helvetica Neue"/>
              </a:rPr>
              <a:t>tipo</a:t>
            </a:r>
            <a:r>
              <a:rPr sz="1300" b="0" i="0" dirty="0">
                <a:solidFill>
                  <a:srgbClr val="2D2E3D"/>
                </a:solidFill>
                <a:latin typeface="Helvetica Neue"/>
              </a:rPr>
              <a:t> Uber, no </a:t>
            </a:r>
            <a:r>
              <a:rPr sz="1300" b="0" i="0" dirty="0" err="1">
                <a:solidFill>
                  <a:srgbClr val="2D2E3D"/>
                </a:solidFill>
                <a:latin typeface="Helvetica Neue"/>
              </a:rPr>
              <a:t>catálogo</a:t>
            </a:r>
            <a:r>
              <a:rPr sz="1300" b="0" i="0" dirty="0">
                <a:solidFill>
                  <a:srgbClr val="2D2E3D"/>
                </a:solidFill>
                <a:latin typeface="Helvetica Neue"/>
              </a:rPr>
              <a:t> plano.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92608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77A0E"/>
                </a:solidFill>
                <a:latin typeface="Helvetica Neue"/>
              </a:rPr>
              <a:t>CURACIÓN DE RAREZAS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3429000"/>
            <a:ext cx="35661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D2E3D"/>
                </a:solidFill>
                <a:latin typeface="Helvetica Neue"/>
              </a:rPr>
              <a:t>Featured, coleccionables y top 10 priorizan primeras ediciones, títulos agotados, editoriales históricas. No competimos en commodity — competimos en lo que nadie tiene.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92608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77A0E"/>
                </a:solidFill>
                <a:latin typeface="Helvetica Neue"/>
              </a:rPr>
              <a:t>SPLIT PAYMENT INTEGRADO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429000"/>
            <a:ext cx="35661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D2E3D"/>
                </a:solidFill>
                <a:latin typeface="Helvetica Neue"/>
              </a:rPr>
              <a:t>OAuth con MercadoPago: el pago se divide automáticamente entre vendedor y plataforma. Courier Shipit genera etiqueta al confirmar el pago. Un solo flujo, cero fricción operativa.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394960"/>
            <a:ext cx="11064240" cy="1005840"/>
          </a:xfrm>
          <a:prstGeom prst="rect">
            <a:avLst/>
          </a:prstGeom>
          <a:solidFill>
            <a:srgbClr val="F3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394960"/>
            <a:ext cx="36576" cy="1005840"/>
          </a:xfrm>
          <a:prstGeom prst="rect">
            <a:avLst/>
          </a:prstGeom>
          <a:solidFill>
            <a:srgbClr val="A77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50468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77A0E"/>
                </a:solidFill>
                <a:latin typeface="Helvetica Neue"/>
              </a:rPr>
              <a:t>FEATURE ÚNICO EN CHILE: FOTO-A-CATÁLOGO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52160"/>
            <a:ext cx="10789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2D2E3D"/>
                </a:solidFill>
                <a:latin typeface="Helvetica Neue"/>
              </a:rPr>
              <a:t>Subes la </a:t>
            </a:r>
            <a:r>
              <a:rPr sz="1200" b="0" i="0" dirty="0" err="1">
                <a:solidFill>
                  <a:srgbClr val="2D2E3D"/>
                </a:solidFill>
                <a:latin typeface="Helvetica Neue"/>
              </a:rPr>
              <a:t>foto</a:t>
            </a:r>
            <a:r>
              <a:rPr sz="1200" b="0" i="0" dirty="0">
                <a:solidFill>
                  <a:srgbClr val="2D2E3D"/>
                </a:solidFill>
                <a:latin typeface="Helvetica Neue"/>
              </a:rPr>
              <a:t> de la </a:t>
            </a:r>
            <a:r>
              <a:rPr sz="1200" b="0" i="0" dirty="0" err="1">
                <a:solidFill>
                  <a:srgbClr val="2D2E3D"/>
                </a:solidFill>
                <a:latin typeface="Helvetica Neue"/>
              </a:rPr>
              <a:t>portada</a:t>
            </a:r>
            <a:r>
              <a:rPr sz="1200" b="0" i="0" dirty="0">
                <a:solidFill>
                  <a:srgbClr val="2D2E3D"/>
                </a:solidFill>
                <a:latin typeface="Helvetica Neue"/>
              </a:rPr>
              <a:t>. </a:t>
            </a:r>
            <a:r>
              <a:rPr sz="1200" b="0" i="0" dirty="0" err="1">
                <a:solidFill>
                  <a:srgbClr val="2D2E3D"/>
                </a:solidFill>
                <a:latin typeface="Helvetica Neue"/>
              </a:rPr>
              <a:t>Identificación</a:t>
            </a:r>
            <a:r>
              <a:rPr sz="1200" b="0" i="0" dirty="0">
                <a:solidFill>
                  <a:srgbClr val="2D2E3D"/>
                </a:solidFill>
                <a:latin typeface="Helvetica Neue"/>
              </a:rPr>
              <a:t> </a:t>
            </a:r>
            <a:r>
              <a:rPr sz="1200" b="0" i="0" dirty="0" err="1">
                <a:solidFill>
                  <a:srgbClr val="2D2E3D"/>
                </a:solidFill>
                <a:latin typeface="Helvetica Neue"/>
              </a:rPr>
              <a:t>vía</a:t>
            </a:r>
            <a:r>
              <a:rPr sz="1200" b="0" i="0" dirty="0">
                <a:solidFill>
                  <a:srgbClr val="2D2E3D"/>
                </a:solidFill>
                <a:latin typeface="Helvetica Neue"/>
              </a:rPr>
              <a:t> LLM + </a:t>
            </a:r>
            <a:r>
              <a:rPr sz="1200" b="0" i="0" dirty="0" err="1">
                <a:solidFill>
                  <a:srgbClr val="2D2E3D"/>
                </a:solidFill>
                <a:latin typeface="Helvetica Neue"/>
              </a:rPr>
              <a:t>enriquecimiento</a:t>
            </a:r>
            <a:r>
              <a:rPr sz="1200" b="0" i="0" dirty="0">
                <a:solidFill>
                  <a:srgbClr val="2D2E3D"/>
                </a:solidFill>
                <a:latin typeface="Helvetica Neue"/>
              </a:rPr>
              <a:t> </a:t>
            </a:r>
            <a:r>
              <a:rPr sz="1200" b="0" i="0" dirty="0" err="1">
                <a:solidFill>
                  <a:srgbClr val="2D2E3D"/>
                </a:solidFill>
                <a:latin typeface="Helvetica Neue"/>
              </a:rPr>
              <a:t>automático</a:t>
            </a:r>
            <a:r>
              <a:rPr sz="1200" b="0" i="0" dirty="0">
                <a:solidFill>
                  <a:srgbClr val="2D2E3D"/>
                </a:solidFill>
                <a:latin typeface="Helvetica Neue"/>
              </a:rPr>
              <a:t> con Google Books y Open Library. Elimina </a:t>
            </a:r>
            <a:r>
              <a:rPr sz="1200" b="0" i="0" dirty="0" err="1">
                <a:solidFill>
                  <a:srgbClr val="2D2E3D"/>
                </a:solidFill>
                <a:latin typeface="Helvetica Neue"/>
              </a:rPr>
              <a:t>el</a:t>
            </a:r>
            <a:r>
              <a:rPr sz="1200" b="0" i="0" dirty="0">
                <a:solidFill>
                  <a:srgbClr val="2D2E3D"/>
                </a:solidFill>
                <a:latin typeface="Helvetica Neue"/>
              </a:rPr>
              <a:t> 90% del </a:t>
            </a:r>
            <a:r>
              <a:rPr sz="1200" b="0" i="0" dirty="0" err="1">
                <a:solidFill>
                  <a:srgbClr val="2D2E3D"/>
                </a:solidFill>
                <a:latin typeface="Helvetica Neue"/>
              </a:rPr>
              <a:t>trabajo</a:t>
            </a:r>
            <a:r>
              <a:rPr sz="1200" b="0" i="0" dirty="0">
                <a:solidFill>
                  <a:srgbClr val="2D2E3D"/>
                </a:solidFill>
                <a:latin typeface="Helvetica Neue"/>
              </a:rPr>
              <a:t> de </a:t>
            </a:r>
            <a:r>
              <a:rPr sz="1200" b="0" i="0" dirty="0" err="1">
                <a:solidFill>
                  <a:srgbClr val="2D2E3D"/>
                </a:solidFill>
                <a:latin typeface="Helvetica Neue"/>
              </a:rPr>
              <a:t>publicar</a:t>
            </a:r>
            <a:r>
              <a:rPr sz="1200" b="0" i="0" dirty="0">
                <a:solidFill>
                  <a:srgbClr val="2D2E3D"/>
                </a:solidFill>
                <a:latin typeface="Helvetica Neue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>
                <a:solidFill>
                  <a:srgbClr val="2D2E3D"/>
                </a:solidFill>
                <a:latin typeface="Georgia"/>
              </a:rPr>
              <a:t>En producción real desde el Viernes Santo.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1">
                <a:solidFill>
                  <a:srgbClr val="8B8B9C"/>
                </a:solidFill>
                <a:latin typeface="Georgia"/>
              </a:rPr>
              <a:t>Construido en 7 días. Iterado 18.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640080" cy="36576"/>
          </a:xfrm>
          <a:prstGeom prst="rect">
            <a:avLst/>
          </a:prstGeom>
          <a:solidFill>
            <a:srgbClr val="A77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77A0E"/>
                </a:solidFill>
                <a:latin typeface="Helvetica Neue"/>
              </a:rPr>
              <a:t>STACK MODERNO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→  Next.js 14 App Router + React 18 +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→  Supabase (Postgres + Storage + Auth)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→  MercadoPago OAuth con split payment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→  Shipit (Starken, Chilexpress, Blue Express, 99 Minutos)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→  Mapbox GL + geolocalización precisa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006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→  Vercel + CI/CD automático en producción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43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77A0E"/>
                </a:solidFill>
                <a:latin typeface="Helvetica Neue"/>
              </a:rPr>
              <a:t>FUNCIONALIDAD OPERATIVA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0040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→  Bundle checkout multi-libro con preferencia MP única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52044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→  URLs amigables /libro/[vendedor]/[slug]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84048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→  Mensajería interna con RLS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16052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→  Sistema de categorías con árbol (5 raíces · 32 subcategorías)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48056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→  Novedades, destacados, coleccionables, tiers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80060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→  Admin panel con CRUD completo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8B9C"/>
                </a:solidFill>
                <a:latin typeface="Helvetica Neue"/>
              </a:rPr>
              <a:t>Costo de reproducir esto con una agencia de desarrollo: USD 150k-250k. Costo real construido con AI-augmented development: el equivalente a 7 días-persona.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TRACCIÓN · 18 DÍAS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0" i="0">
                <a:solidFill>
                  <a:srgbClr val="3D4670"/>
                </a:solidFill>
                <a:latin typeface="Georgia"/>
              </a:rPr>
              <a:t>Sin distribución activa ni gasto en marketing.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0" i="0">
                <a:solidFill>
                  <a:srgbClr val="A77A0E"/>
                </a:solidFill>
                <a:latin typeface="Georgia"/>
              </a:rPr>
              <a:t>438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USUARIOS ACTIVOS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8B9C"/>
                </a:solidFill>
                <a:latin typeface="Helvetica Neue"/>
              </a:rPr>
              <a:t>GA4, primeros 10 días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28600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0" i="0">
                <a:solidFill>
                  <a:srgbClr val="A77A0E"/>
                </a:solidFill>
                <a:latin typeface="Georg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2918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COMPRADORES REALES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6118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8B9C"/>
                </a:solidFill>
                <a:latin typeface="Helvetica Neue"/>
              </a:rPr>
              <a:t>11 libros vendidos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8600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0" i="0" dirty="0">
                <a:solidFill>
                  <a:srgbClr val="A77A0E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2918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LIBRERÍAS ACTIVADAS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6118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8B9C"/>
                </a:solidFill>
                <a:latin typeface="Helvetica Neue"/>
              </a:rPr>
              <a:t>Orgánicamente, sin outreach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28600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0" i="0">
                <a:solidFill>
                  <a:srgbClr val="A77A0E"/>
                </a:solidFill>
                <a:latin typeface="Georgia"/>
              </a:rPr>
              <a:t>207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2918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LISTINGS CURADOS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6118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8B9C"/>
                </a:solidFill>
                <a:latin typeface="Helvetica Neue"/>
              </a:rPr>
              <a:t>Valor catálogo $2.4M CLP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0" i="0">
                <a:solidFill>
                  <a:srgbClr val="A77A0E"/>
                </a:solidFill>
                <a:latin typeface="Georgia"/>
              </a:rP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120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CONVERSIÓN REGISTRO → COMPRA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5321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8B9C"/>
                </a:solidFill>
                <a:latin typeface="Helvetica Neue"/>
              </a:rPr>
              <a:t>Benchmark seed: 5-15%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2062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0" i="0">
                <a:solidFill>
                  <a:srgbClr val="A77A0E"/>
                </a:solidFill>
                <a:latin typeface="Georgia"/>
              </a:rPr>
              <a:t>4.6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2120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VISTAS / USUARIO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5321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8B9C"/>
                </a:solidFill>
                <a:latin typeface="Helvetica Neue"/>
              </a:rPr>
              <a:t>Engagement sano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2062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0" i="0">
                <a:solidFill>
                  <a:srgbClr val="A77A0E"/>
                </a:solidFill>
                <a:latin typeface="Georgia"/>
              </a:rPr>
              <a:t>$90k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2120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GMV ACUMULADO CLP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5321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8B9C"/>
                </a:solidFill>
                <a:latin typeface="Helvetica Neue"/>
              </a:rPr>
              <a:t>3 ventas en 18 días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2062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0" i="0">
                <a:solidFill>
                  <a:srgbClr val="A77A0E"/>
                </a:solidFill>
                <a:latin typeface="Georgia"/>
              </a:rPr>
              <a:t>$45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52120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BURN MENSUAL USD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55321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8B9C"/>
                </a:solidFill>
                <a:latin typeface="Helvetica Neue"/>
              </a:rPr>
              <a:t>Vercel Pro + Supabase 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8B8B9C"/>
                </a:solidFill>
                <a:latin typeface="Helvetica Neue"/>
              </a:rPr>
              <a:t>Operación iniciada 3 abril 2026. Tres ventas reales en 18 días: Zdravko (La Marina Tomo I, $5.000), set de 7 Maigret a tercer comprador ($40.000), bundle multi-libro a Camilo (17 abril, Concepción, $45.000).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0" i="0">
                <a:solidFill>
                  <a:srgbClr val="2D2E3D"/>
                </a:solidFill>
                <a:latin typeface="Georgia"/>
              </a:rPr>
              <a:t>El patrón ya está validado.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45720" cy="1645920"/>
          </a:xfrm>
          <a:prstGeom prst="rect">
            <a:avLst/>
          </a:prstGeom>
          <a:solidFill>
            <a:srgbClr val="A77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1">
                <a:solidFill>
                  <a:srgbClr val="2D2E3D"/>
                </a:solidFill>
                <a:latin typeface="Georgia"/>
              </a:rPr>
              <a:t>"Fácil y sin complicaciones. Muy buena disposición por parte del vendedor,</a:t>
            </a:r>
          </a:p>
          <a:p>
            <a:pPr algn="l"/>
            <a:r>
              <a:rPr sz="3000" b="0" i="1">
                <a:solidFill>
                  <a:srgbClr val="2D2E3D"/>
                </a:solidFill>
                <a:latin typeface="Georgia"/>
              </a:rPr>
              <a:t>volvería a comprar sin ningún problema."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— Z., PRIMER COMPRADOR · LA MARINA EN LA HISTORIA DE CHILE · 7 ABRIL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77A0E"/>
                </a:solidFill>
                <a:latin typeface="Helvetica Neue"/>
              </a:rPr>
              <a:t>QUÉ VENDEMOS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09160"/>
            <a:ext cx="5486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Libros raros a precio 40-60% bajo IberLibro/Buscalibre. El bundle de Camilo incluyó Parra ($23.992, IberLibro €30-50) y De Rokha edición cubana 1991 agotada ($14.000). Son joyas, no commodity.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2976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77A0E"/>
                </a:solidFill>
                <a:latin typeface="Helvetica Neue"/>
              </a:rPr>
              <a:t>POR QUÉ NO MORIREMOS EN COMMODITY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709160"/>
            <a:ext cx="5486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Quien llega a tuslibros ya filtró Buscalibre y MercadoLibre. Busca lo que esos no tienen. Competir en best-seller moderno es suicidio. La ventaja defendible es la curación.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8B9C"/>
                </a:solidFill>
                <a:latin typeface="Helvetica Neue"/>
              </a:rPr>
              <a:t>Publicados 3 libros el 16 abril a las 21h. Vendidos en bundle 14 horas después, 17 abril 15h. Tiempo entre publicación y venta en caso de libro raro + precio competitivo: menos de un día.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0" i="0">
                <a:solidFill>
                  <a:srgbClr val="3D4670"/>
                </a:solidFill>
                <a:latin typeface="Georgia"/>
              </a:rPr>
              <a:t>TAM, SAM, SOM — conservador.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548640"/>
          </a:xfrm>
          <a:prstGeom prst="rect">
            <a:avLst/>
          </a:prstGeom>
          <a:solidFill>
            <a:srgbClr val="F3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6576" cy="548640"/>
          </a:xfrm>
          <a:prstGeom prst="rect">
            <a:avLst/>
          </a:prstGeom>
          <a:solidFill>
            <a:srgbClr val="A77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TAM (Total Addressable): techo teórico  ·  SAM (Serviceable Addressable): lo que el producto realmente puede servir  ·  SOM (Serviceable Obtainable): lo realista capturar en 3 años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3566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0" i="0">
                <a:solidFill>
                  <a:srgbClr val="A77A0E"/>
                </a:solidFill>
                <a:latin typeface="Georgia"/>
              </a:rPr>
              <a:t>$10 mil millones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B8B9C"/>
                </a:solidFill>
                <a:latin typeface="Helvetica Neue"/>
              </a:rPr>
              <a:t>CLP / AÑO · TAM CHILE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35661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Total de libros usados transados en Chile al año entre todos los canales. ~USD 10.5M.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651760"/>
            <a:ext cx="3566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0" i="0">
                <a:solidFill>
                  <a:srgbClr val="A77A0E"/>
                </a:solidFill>
                <a:latin typeface="Georgia"/>
              </a:rPr>
              <a:t>$3-4 mil millones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79476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B8B9C"/>
                </a:solidFill>
                <a:latin typeface="Helvetica Neue"/>
              </a:rPr>
              <a:t>CLP / AÑO · SAM URBANO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4297680"/>
            <a:ext cx="35661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Santiago, Valparaíso, Concepción. Donde el mapa y courier funcionan. ~USD 3.2-4.2M.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651760"/>
            <a:ext cx="3566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0" i="0">
                <a:solidFill>
                  <a:srgbClr val="A77A0E"/>
                </a:solidFill>
                <a:latin typeface="Georgia"/>
              </a:rPr>
              <a:t>$300-400 millones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79476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B8B9C"/>
                </a:solidFill>
                <a:latin typeface="Helvetica Neue"/>
              </a:rPr>
              <a:t>CLP / AÑO · SOM AÑO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297680"/>
            <a:ext cx="35661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Con 10% de penetración digital del mercado urbano, GMV objetivo. ~USD 315-420k.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77A0E"/>
                </a:solidFill>
                <a:latin typeface="Helvetica Neue"/>
              </a:rPr>
              <a:t>CRECIMIENTO ESTRUCTURAL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6072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D2E3D"/>
                </a:solidFill>
                <a:latin typeface="Helvetica Neue"/>
              </a:rPr>
              <a:t>→  Mercado del libro físico en Chile crece 8-12% anual post-pandemia (Cámara Chilena del Libro)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07608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D2E3D"/>
                </a:solidFill>
                <a:latin typeface="Helvetica Neue"/>
              </a:rPr>
              <a:t>→  Economía circular + sustentabilidad empuja usado vs. nuevo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54496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D2E3D"/>
                </a:solidFill>
                <a:latin typeface="Helvetica Neue"/>
              </a:rPr>
              <a:t>→  Generación universitaria busca libros de cátedra usados (nicho de alta recurrencia)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01383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D2E3D"/>
                </a:solidFill>
                <a:latin typeface="Helvetica Neue"/>
              </a:rPr>
              <a:t>→  Coleccionismo en alza: bibliófilos chilenos pagan CLP 50-300k por primera edición nacional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COMPETENCIA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>
                <a:solidFill>
                  <a:srgbClr val="2D2E3D"/>
                </a:solidFill>
                <a:latin typeface="Georgia"/>
              </a:rPr>
              <a:t>No competimos contra ellos —</a:t>
            </a:r>
          </a:p>
          <a:p>
            <a:pPr algn="l"/>
            <a:r>
              <a:rPr sz="3200" b="0" i="0">
                <a:solidFill>
                  <a:srgbClr val="2D2E3D"/>
                </a:solidFill>
                <a:latin typeface="Georgia"/>
              </a:rPr>
              <a:t>resolvemos lo que ninguno resuelve.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JUGADOR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283464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LIBRO NUEVO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83464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LIBRO USADO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8346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CURACIÓN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3464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MAPA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8346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SPLIT PAY.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46120"/>
            <a:ext cx="11064240" cy="36576"/>
          </a:xfrm>
          <a:prstGeom prst="rect">
            <a:avLst/>
          </a:prstGeom>
          <a:solidFill>
            <a:srgbClr val="8B8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3832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D2E3D"/>
                </a:solidFill>
                <a:latin typeface="Helvetica Neue"/>
              </a:rPr>
              <a:t>Buscalibre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3832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3832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3832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Editorial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38328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3832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D2E3D"/>
                </a:solidFill>
                <a:latin typeface="Helvetica Neue"/>
              </a:rPr>
              <a:t>MercadoLibre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8862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8862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commodity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8862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8862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8862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Parcial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891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D2E3D"/>
                </a:solidFill>
                <a:latin typeface="Helvetica Neue"/>
              </a:rPr>
              <a:t>Facebook 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3891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3891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informal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3891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3891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43891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8920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D2E3D"/>
                </a:solidFill>
                <a:latin typeface="Helvetica Neue"/>
              </a:rPr>
              <a:t>Librerías viejo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48920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89204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offline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8920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Curador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89204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48920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30952"/>
            <a:ext cx="11064240" cy="457200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53949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D2E3D"/>
                </a:solidFill>
                <a:latin typeface="Helvetica Neue"/>
              </a:rPr>
              <a:t>tuslibros.cl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53949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D2E3D"/>
                </a:solidFill>
                <a:latin typeface="Helvetica Neue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53949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D2E3D"/>
                </a:solidFill>
                <a:latin typeface="Helvetica Neue"/>
              </a:rPr>
              <a:t>curado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53949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D2E3D"/>
                </a:solidFill>
                <a:latin typeface="Helvetica Neue"/>
              </a:rPr>
              <a:t>featured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539496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D2E3D"/>
                </a:solidFill>
                <a:latin typeface="Helvetica Neue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53949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D2E3D"/>
                </a:solidFill>
                <a:latin typeface="Helvetica Neue"/>
              </a:rPr>
              <a:t>✓ OAuth MP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8B8B9C"/>
                </a:solidFill>
                <a:latin typeface="Helvetica Neue"/>
              </a:rPr>
              <a:t>La posición competitiva no es "otro Buscalibre" ni "otro MercadoLibre". Es la librería de viejo de Santiago, pero online, con mapa, con pago integrado y con foto-a-catálogo.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0" i="0">
                <a:solidFill>
                  <a:srgbClr val="3D4670"/>
                </a:solidFill>
                <a:latin typeface="Georgia"/>
              </a:rPr>
              <a:t>Founder única, velocity probada.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77A0E"/>
                </a:solidFill>
                <a:latin typeface="Helvetica Neue"/>
              </a:rPr>
              <a:t>VERÓNICA VELÁSQUEZ — FOUNDER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53035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D2E3D"/>
                </a:solidFill>
                <a:latin typeface="Helvetica Neue"/>
              </a:rPr>
              <a:t>Background en economía y consultoría. Ex-economics.cl. Decisión deliberada de operar sin cofundador técnico.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53035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2D2E3D"/>
                </a:solidFill>
                <a:latin typeface="Helvetica Neue"/>
              </a:rPr>
              <a:t>No es limitación: es el modelo. Dev asistido por Claude Code me permite iterar producción en horas lo que una startup tradicional iteraría en semanas.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77A0E"/>
                </a:solidFill>
                <a:latin typeface="Helvetica Neue"/>
              </a:rPr>
              <a:t>EVIDENCIA DE EJECUCIÓN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834640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→  7 días desde 0 hasta producción con MP + Shipit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429000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→  18 días de iteración continua: 207 listings curados, 3 librerías onboardeadas, 3 compradores, 11 libros vendidos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023360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→  Deploy diario a producción sin regresiones críticas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617720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→  Burn $45/mes: disciplina de capital desde día uno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212080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→  Founder cerca del customer: respondí yo el primer email, yo cerré el primer testimonio, yo entregué el primer bundle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8B9C"/>
                </a:solidFill>
                <a:latin typeface="Helvetica Neue"/>
              </a:rPr>
              <a:t>El argumento tradicional contra un founder único es ejecución. La evidencia de los últimos 18 días responde eso antes de la pregunta.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PROPUESTA · BOOTSTRAP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0" i="0">
                <a:solidFill>
                  <a:srgbClr val="2D2E3D"/>
                </a:solidFill>
                <a:latin typeface="Georgia"/>
              </a:rPr>
              <a:t>USD 40-60k · 3-5% · pre-money USD 1.2M.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8B8B9C"/>
                </a:solidFill>
                <a:latin typeface="Helvetica Neue"/>
              </a:rPr>
              <a:t>$38 – $57 millones CLP  ·  ronda ángel  ·  SAFE o nota convertible  ·  12 meses opex puro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640080" cy="36576"/>
          </a:xfrm>
          <a:prstGeom prst="rect">
            <a:avLst/>
          </a:prstGeom>
          <a:solidFill>
            <a:srgbClr val="A77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77A0E"/>
                </a:solidFill>
                <a:latin typeface="Helvetica Neue"/>
              </a:rPr>
              <a:t>VALORIZACIÓN TRIANGULADA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Berkus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651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2D2E3D"/>
                </a:solidFill>
                <a:latin typeface="Helvetica Neue"/>
              </a:rPr>
              <a:t>USD 1.6M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9923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Scorecard vs. comparables LatAm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99923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2D2E3D"/>
                </a:solidFill>
                <a:latin typeface="Helvetica Neue"/>
              </a:rPr>
              <a:t>USD 1.42M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46704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Replacement cost (piso)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346704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2D2E3D"/>
                </a:solidFill>
                <a:latin typeface="Helvetica Neue"/>
              </a:rPr>
              <a:t>USD 200k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94176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Comparables Chile seed marketplace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694176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2D2E3D"/>
                </a:solidFill>
                <a:latin typeface="Helvetica Neue"/>
              </a:rPr>
              <a:t>USD 1.2-1.4M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05072"/>
            <a:ext cx="5486400" cy="365760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D2E3D"/>
                </a:solidFill>
                <a:latin typeface="Helvetica Neue"/>
              </a:rPr>
              <a:t>Pre-money objetivo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0416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2D2E3D"/>
                </a:solidFill>
                <a:latin typeface="Helvetica Neue"/>
              </a:rPr>
              <a:t>USD 1.2M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26280"/>
            <a:ext cx="5486400" cy="1737360"/>
          </a:xfrm>
          <a:prstGeom prst="rect">
            <a:avLst/>
          </a:prstGeom>
          <a:solidFill>
            <a:srgbClr val="EE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4526280"/>
            <a:ext cx="36576" cy="1737360"/>
          </a:xfrm>
          <a:prstGeom prst="rect">
            <a:avLst/>
          </a:prstGeom>
          <a:solidFill>
            <a:srgbClr val="A77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6177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MÉTODOS, EN BREVE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37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D2E3D"/>
                </a:solidFill>
                <a:latin typeface="Helvetica Neue"/>
              </a:rPr>
              <a:t>Berkus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93776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D2E3D"/>
                </a:solidFill>
                <a:latin typeface="Helvetica Neue"/>
              </a:rPr>
              <a:t>asigna hasta USD 500k a 5 componentes (idea, producto, equipo, alianzas, ventas).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37667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D2E3D"/>
                </a:solidFill>
                <a:latin typeface="Helvetica Neue"/>
              </a:rPr>
              <a:t>Scorecard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376672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D2E3D"/>
                </a:solidFill>
                <a:latin typeface="Helvetica Neue"/>
              </a:rPr>
              <a:t>compara contra comparables seed LatAm, ajusta por fuerzas relativas.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1558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D2E3D"/>
                </a:solidFill>
                <a:latin typeface="Helvetica Neue"/>
              </a:rPr>
              <a:t>Replacement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5815584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D2E3D"/>
                </a:solidFill>
                <a:latin typeface="Helvetica Neue"/>
              </a:rPr>
              <a:t>cuánto costaría reconstruir lo construido. Piso de negociación.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2402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77A0E"/>
                </a:solidFill>
                <a:latin typeface="Helvetica Neue"/>
              </a:rPr>
              <a:t>USO DE FONDOS · 12 MESES  (USD 50k base)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6517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D2E3D"/>
                </a:solidFill>
                <a:latin typeface="Helvetica Neue"/>
              </a:rPr>
              <a:t>Marketing digital + GTM (Kit Metralleta)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265176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2D2E3D"/>
                </a:solidFill>
                <a:latin typeface="Helvetica Neue"/>
              </a:rPr>
              <a:t>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0175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Activación librerías + dev apoyo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3017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2D2E3D"/>
                </a:solidFill>
                <a:latin typeface="Helvetica Neue"/>
              </a:rPr>
              <a:t>30%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3832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Features clave (mobile, reseñas)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338328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2D2E3D"/>
                </a:solidFill>
                <a:latin typeface="Helvetica Neue"/>
              </a:rPr>
              <a:t>15%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749039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Infra + reserva operativa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3749039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2D2E3D"/>
                </a:solidFill>
                <a:latin typeface="Helvetica Neue"/>
              </a:rPr>
              <a:t>10%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20624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8B9C"/>
                </a:solidFill>
                <a:latin typeface="Helvetica Neue"/>
              </a:rPr>
              <a:t>Founder subsidia su tiempo con ahorros. 100% del capital va a ejecución de mercado. Break-even mes 14 en escenario bull.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9377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77A0E"/>
                </a:solidFill>
                <a:latin typeface="Helvetica Neue"/>
              </a:rPr>
              <a:t>HITO A 12 MESES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349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→  20 vendedores activos · 2 alianzas universitarias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669279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→  $5 millones CLP MRR · 500+ transacciones/mes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9893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→  Listo para ronda seed USD 500k-1M (donde sí va salario)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A77A0E"/>
                </a:solidFill>
                <a:latin typeface="Helvetica Neue"/>
              </a:rPr>
              <a:t>HABLEMOS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0" i="0">
                <a:solidFill>
                  <a:srgbClr val="2D2E3D"/>
                </a:solidFill>
                <a:latin typeface="Georgia"/>
              </a:rPr>
              <a:t>El mejor momento para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0" i="1">
                <a:solidFill>
                  <a:srgbClr val="A77A0E"/>
                </a:solidFill>
                <a:latin typeface="Georgia"/>
              </a:rPr>
              <a:t>entrar es ahora.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D2E3D"/>
                </a:solidFill>
                <a:latin typeface="Helvetica Neue"/>
              </a:rPr>
              <a:t>En 18 días el producto está en producción, hay compradores reales con ciclo cerrado, 3 librerías profesionales llegaron solas y el primer testimonio autorizado está publicado. El capital que busco es para activar lo que ya está tocando la puerta — no para construir algo desde cero.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394960"/>
            <a:ext cx="11064240" cy="1188720"/>
          </a:xfrm>
          <a:prstGeom prst="rect">
            <a:avLst/>
          </a:prstGeom>
          <a:solidFill>
            <a:srgbClr val="F3EAD5"/>
          </a:solidFill>
          <a:ln w="19050">
            <a:solidFill>
              <a:srgbClr val="A77A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55321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77A0E"/>
                </a:solidFill>
                <a:latin typeface="Helvetica Neue"/>
              </a:rPr>
              <a:t>VERÓNICA VELÁSQUEZ — FOUNDER · TUSLIBROS.CL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978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2D2E3D"/>
                </a:solidFill>
                <a:latin typeface="Helvetica Neue"/>
              </a:rPr>
              <a:t>vero@economics.cl · Santiago · Providencia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55321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77A0E"/>
                </a:solidFill>
                <a:latin typeface="Helvetica Neue"/>
              </a:rPr>
              <a:t>PRÓXIMOS PASOS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589788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D2E3D"/>
                </a:solidFill>
                <a:latin typeface="Helvetica Neue"/>
              </a:rPr>
              <a:t>Deep dive GA4 · Proyección 36 meses · Term sheet 1-2 semanas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1528</Words>
  <Application>Microsoft Macintosh PowerPoint</Application>
  <PresentationFormat>Panorámica</PresentationFormat>
  <Paragraphs>208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Georgia</vt:lpstr>
      <vt:lpstr>Helvetica Neue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veronica velasquez</cp:lastModifiedBy>
  <cp:revision>3</cp:revision>
  <dcterms:created xsi:type="dcterms:W3CDTF">2013-01-27T09:14:16Z</dcterms:created>
  <dcterms:modified xsi:type="dcterms:W3CDTF">2026-05-04T23:46:26Z</dcterms:modified>
  <cp:category/>
</cp:coreProperties>
</file>