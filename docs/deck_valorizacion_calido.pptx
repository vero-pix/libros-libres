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3840480" cy="320040"/>
          </a:xfrm>
          <a:prstGeom prst="roundRect">
            <a:avLst>
              <a:gd name="adj" fmla="val 50000"/>
            </a:avLst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000" b="1">
                <a:solidFill>
                  <a:srgbClr val="EDE0C1"/>
                </a:solidFill>
                <a:latin typeface="Helvetica Neue"/>
              </a:rPr>
              <a:t>PROPUESTA DE INVERSIÓN · ABRIL 2026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097280"/>
            <a:ext cx="548640" cy="548640"/>
          </a:xfrm>
          <a:prstGeom prst="ellipse">
            <a:avLst/>
          </a:prstGeom>
          <a:noFill/>
          <a:ln w="25400">
            <a:solidFill>
              <a:srgbClr val="A77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>
                <a:solidFill>
                  <a:srgbClr val="A77A0E"/>
                </a:solidFill>
                <a:latin typeface="Georgia"/>
              </a:rPr>
              <a:t>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200" b="0" i="0">
                <a:solidFill>
                  <a:srgbClr val="2D2E3D"/>
                </a:solidFill>
                <a:latin typeface="Georgia"/>
              </a:rPr>
              <a:t>tuslibros.cl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2D2E3D"/>
                </a:solidFill>
                <a:latin typeface="Helvetica Neue"/>
              </a:rPr>
              <a:t>Los libros de tu ciudad.</a:t>
            </a:r>
          </a:p>
          <a:p>
            <a:pPr algn="l"/>
            <a:r>
              <a:rPr sz="2000" b="0" i="0">
                <a:solidFill>
                  <a:srgbClr val="2D2E3D"/>
                </a:solidFill>
                <a:latin typeface="Helvetica Neue"/>
              </a:rPr>
              <a:t>Marketplace de libros usados con mapa, curación y split payment.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VERÓNICA VELÁSQUEZ · 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09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B8B9C"/>
                </a:solidFill>
                <a:latin typeface="Helvetica Neue"/>
              </a:rPr>
              <a:t>SANTIAGO, CHILE ·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2D2E3D"/>
                </a:solidFill>
                <a:latin typeface="Georgia"/>
              </a:rPr>
              <a:t>El mercado de libros usados en Chile es grande,</a:t>
            </a:r>
          </a:p>
          <a:p>
            <a:pPr algn="l"/>
            <a:r>
              <a:rPr sz="4200" b="0" i="0">
                <a:solidFill>
                  <a:srgbClr val="2D2E3D"/>
                </a:solidFill>
                <a:latin typeface="Georgia"/>
              </a:rPr>
              <a:t>pero está invisible.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640080" cy="36576"/>
          </a:xfrm>
          <a:prstGeom prst="rect">
            <a:avLst/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A77A0E"/>
                </a:solidFill>
                <a:latin typeface="Georgia"/>
              </a:rPr>
              <a:t>$8-12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MIL MILLONES CLP / AÑO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3566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Mercado estimado de libros usados en Chile, repartido entre MercadoLibre, Facebook Marketplace, librerías de viejo e intercambios informales. ~USD 8-12M.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1089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A77A0E"/>
                </a:solidFill>
                <a:latin typeface="Georg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480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PLATAFORMA DIGITAL DEDICADA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937760"/>
            <a:ext cx="3566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Buscalibre domina libro nuevo. MercadoLibre es commodity sin curación. Facebook no tiene pago integrado ni confianza. Las librerías de viejo siguen offline.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089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A77A0E"/>
                </a:solidFill>
                <a:latin typeface="Georgia"/>
              </a:rPr>
              <a:t>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480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CATÁLOGO INVISIBLE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937760"/>
            <a:ext cx="3566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Antes de tuslibros: el libro usado que quieres existe, pero encontrarlo toma tres búsquedas, cero garantía y una conversación de WhatsApp con un desconocido.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B8B9C"/>
                </a:solidFill>
                <a:latin typeface="Helvetica Neue"/>
              </a:rPr>
              <a:t>En Chile compramos ~45 millones de libros al año. El mercado de segunda vida existe, pero no tiene infraestructura digital. Nadie lo está resolviendo.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3D4670"/>
                </a:solidFill>
                <a:latin typeface="Georgia"/>
              </a:rPr>
              <a:t>Un marketplace con tres diferenciadores</a:t>
            </a:r>
          </a:p>
          <a:p>
            <a:pPr algn="l"/>
            <a:r>
              <a:rPr sz="3800" b="0" i="0">
                <a:solidFill>
                  <a:srgbClr val="3D4670"/>
                </a:solidFill>
                <a:latin typeface="Georgia"/>
              </a:rPr>
              <a:t>que nadie tiene junto.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7A0E"/>
                </a:solidFill>
                <a:latin typeface="Helvetica Neue"/>
              </a:rPr>
              <a:t>MAPA GEOLOCALIZADO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E3D"/>
                </a:solidFill>
                <a:latin typeface="Helvetica Neue"/>
              </a:rPr>
              <a:t>Ves los libros como puntos en el mapa de tu ciudad. El libro más cercano es el mejor resultado. Experiencia tipo Uber, no catálogo plano.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9260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7A0E"/>
                </a:solidFill>
                <a:latin typeface="Helvetica Neue"/>
              </a:rPr>
              <a:t>CURACIÓN DE RAREZAS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3429000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E3D"/>
                </a:solidFill>
                <a:latin typeface="Helvetica Neue"/>
              </a:rPr>
              <a:t>Featured, coleccionables y top 10 priorizan primeras ediciones, títulos agotados, editoriales históricas. No competimos en commodity — competimos en lo que nadie tiene.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7A0E"/>
                </a:solidFill>
                <a:latin typeface="Helvetica Neue"/>
              </a:rPr>
              <a:t>SPLIT PAYMENT INTEGRADO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429000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E3D"/>
                </a:solidFill>
                <a:latin typeface="Helvetica Neue"/>
              </a:rPr>
              <a:t>OAuth con MercadoPago: el pago se divide automáticamente entre vendedor y plataforma. Courier Shipit genera etiqueta al confirmar el pago. Un solo flujo, cero fricción operativa.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solidFill>
            <a:srgbClr val="F3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394960"/>
            <a:ext cx="36576" cy="1005840"/>
          </a:xfrm>
          <a:prstGeom prst="rect">
            <a:avLst/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5046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FEATURE ÚNICO EN CHILE: FOTO-A-CATÁLOGO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Subes la foto de la portada. Identificación vía LLM + enriquecimiento automático con Google Books y Open Library. Ningún competidor en Chile tiene esto. Elimina el 90% del trabajo de publicar.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2D2E3D"/>
                </a:solidFill>
                <a:latin typeface="Georgia"/>
              </a:rPr>
              <a:t>En producción real desde el Viernes Santo.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8B8B9C"/>
                </a:solidFill>
                <a:latin typeface="Georgia"/>
              </a:rPr>
              <a:t>Construido en 7 días. Iterado 18.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640080" cy="36576"/>
          </a:xfrm>
          <a:prstGeom prst="rect">
            <a:avLst/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7A0E"/>
                </a:solidFill>
                <a:latin typeface="Helvetica Neue"/>
              </a:rPr>
              <a:t>STACK MODERNO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Next.js 14 App Router + React 18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Supabase (Postgres + Storage + Auth)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MercadoPago OAuth con split 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Shipit (Starken, Chilexpress, Blue Express, 99 Minutos)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Mapbox GL + geolocalización precisa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Vercel + CI/CD automático en producción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43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7A0E"/>
                </a:solidFill>
                <a:latin typeface="Helvetica Neue"/>
              </a:rPr>
              <a:t>FUNCIONALIDAD OPERATIVA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Bundle checkout multi-libro con preferencia MP única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52044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URLs amigables /libro/[vendedor]/[slug]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84048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Mensajería interna con RLS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16052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Sistema de categorías con árbol (5 raíces · 32 subcategorías)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48056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Novedades, destacados, coleccionables, tiers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80060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Admin panel con CRUD completo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Costo de reproducir esto con una agencia de desarrollo: USD 150k-250k. Costo real construido con AI-augmented development: el equivalente a 7 días-persona.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TRACCIÓN · 18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3D4670"/>
                </a:solidFill>
                <a:latin typeface="Georgia"/>
              </a:rPr>
              <a:t>Sin distribución activa ni gasto en marketing.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438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USUARIOS ACTIVOS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GA4, primeros 10 días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2860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COMPRADORES REALES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611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11 libros vendidos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LIBRERÍAS ACTIVADAS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11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Orgánicamente, sin outreach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2860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207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LISTINGS CURADOS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611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Valor catálogo $2.4M CLP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CONVERSIÓN REGISTRO → COMPRA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Benchmark seed: 5-15%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20624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4.6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VISTAS / USUARIO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Engagement sano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20624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$90k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GMV ACUMULADO CLP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3 ventas en 18 días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20624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$45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BURN MENSUAL USD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Vercel Pro + Supabase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8B9C"/>
                </a:solidFill>
                <a:latin typeface="Helvetica Neue"/>
              </a:rPr>
              <a:t>Operación iniciada 3 abril 2026. Tres ventas reales en 18 días: Zdravko (La Marina Tomo I, $5.000), set de 7 Maigret a tercer comprador ($40.000), bundle multi-libro a Camilo (17 abril, Concepción, $45.000).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2D2E3D"/>
                </a:solidFill>
                <a:latin typeface="Georgia"/>
              </a:rPr>
              <a:t>El patrón ya está validado.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45720" cy="1645920"/>
          </a:xfrm>
          <a:prstGeom prst="rect">
            <a:avLst/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2D2E3D"/>
                </a:solidFill>
                <a:latin typeface="Georgia"/>
              </a:rPr>
              <a:t>"Fácil y sin complicaciones. Muy buena disposición por parte del vendedor,</a:t>
            </a:r>
          </a:p>
          <a:p>
            <a:pPr algn="l"/>
            <a:r>
              <a:rPr sz="3000" b="0" i="1">
                <a:solidFill>
                  <a:srgbClr val="2D2E3D"/>
                </a:solidFill>
                <a:latin typeface="Georgia"/>
              </a:rPr>
              <a:t>volvería a comprar sin ningún problema."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— Z., PRIMER COMPRADOR · LA MARINA EN LA HISTORIA DE CHILE · 7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QUÉ VENDEMOS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Libros raros a precio 40-60% bajo IberLibro/Buscalibre. El bundle de Camilo incluyó Parra ($23.992, IberLibro €30-50) y De Rokha edición cubana 1991 agotada ($14.000). Son joyas, no commodity.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97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POR QUÉ NO MORIREMOS EN COMMODITY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70916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Quien llega a tuslibros ya filtró Buscalibre y MercadoLibre. Busca lo que esos no tienen. Competir en best-seller moderno es suicidio. La ventaja defendible es la curación.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Publicados 3 libros el 16 abril a las 21h. Vendidos en bundle 14 horas después, 17 abril 15h. Tiempo entre publicación y venta en caso de libro raro + precio competitivo: menos de un día.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3D4670"/>
                </a:solidFill>
                <a:latin typeface="Georgia"/>
              </a:rPr>
              <a:t>TAM, SAM, SOM — conservador.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solidFill>
            <a:srgbClr val="F3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576" cy="548640"/>
          </a:xfrm>
          <a:prstGeom prst="rect">
            <a:avLst/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TAM (Total Addressable): techo teórico  ·  SAM (Serviceable Addressable): lo que el producto realmente puede servir  ·  SOM (Serviceable Obtainable): lo realista capturar en 3 años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A77A0E"/>
                </a:solidFill>
                <a:latin typeface="Georgia"/>
              </a:rPr>
              <a:t>$10 mil millones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8B9C"/>
                </a:solidFill>
                <a:latin typeface="Helvetica Neue"/>
              </a:rPr>
              <a:t>CLP / AÑO · TAM CHILE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Total de libros usados transados en Chile al año entre todos los canales. ~USD 10.5M.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5176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A77A0E"/>
                </a:solidFill>
                <a:latin typeface="Georgia"/>
              </a:rPr>
              <a:t>$3-4 mil millones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7947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8B9C"/>
                </a:solidFill>
                <a:latin typeface="Helvetica Neue"/>
              </a:rPr>
              <a:t>CLP / AÑO · SAM URBANO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29768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Santiago, Valparaíso, Concepción. Donde el mapa y courier funcionan. ~USD 3.2-4.2M.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5176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A77A0E"/>
                </a:solidFill>
                <a:latin typeface="Georgia"/>
              </a:rPr>
              <a:t>$300-400 millones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7947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8B9C"/>
                </a:solidFill>
                <a:latin typeface="Helvetica Neue"/>
              </a:rPr>
              <a:t>CLP / AÑO · SOM AÑO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29768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Con 10% de penetración digital del mercado urbano, GMV objetivo. ~USD 315-420k.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CRECIMIENTO ESTRUCTURAL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D2E3D"/>
                </a:solidFill>
                <a:latin typeface="Helvetica Neue"/>
              </a:rPr>
              <a:t>→  Mercado del libro físico en Chile crece 8-12% anual post-pandemia (Cámara Chilena del Libro)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0760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D2E3D"/>
                </a:solidFill>
                <a:latin typeface="Helvetica Neue"/>
              </a:rPr>
              <a:t>→  Economía circular + sustentabilidad empuja usado vs. nuevo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5449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D2E3D"/>
                </a:solidFill>
                <a:latin typeface="Helvetica Neue"/>
              </a:rPr>
              <a:t>→  Generación universitaria busca libros de cátedra usados (nicho de alta recurrencia)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01383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D2E3D"/>
                </a:solidFill>
                <a:latin typeface="Helvetica Neue"/>
              </a:rPr>
              <a:t>→  Coleccionismo en alza: bibliófilos chilenos pagan CLP 50-300k por primera edición nacional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COMPETENCIA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2D2E3D"/>
                </a:solidFill>
                <a:latin typeface="Georgia"/>
              </a:rPr>
              <a:t>No competimos contra ellos —</a:t>
            </a:r>
          </a:p>
          <a:p>
            <a:pPr algn="l"/>
            <a:r>
              <a:rPr sz="3200" b="0" i="0">
                <a:solidFill>
                  <a:srgbClr val="2D2E3D"/>
                </a:solidFill>
                <a:latin typeface="Georgia"/>
              </a:rPr>
              <a:t>resolvemos lo que ninguno resuelve.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JUGADOR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8346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LIBRO NUEVO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8346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LIBRO USADO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8346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CURACIÓN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MAPA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8346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SPLIT PAY.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11064240" cy="36576"/>
          </a:xfrm>
          <a:prstGeom prst="rect">
            <a:avLst/>
          </a:prstGeom>
          <a:solidFill>
            <a:srgbClr val="8B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Buscalibre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832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3832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Editorial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383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383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MercadoLibre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8862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8862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commodity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886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886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886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Parcial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89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Facebook 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389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3891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informal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389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3891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3891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Librerías viejo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892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892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offline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Curador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8920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8920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30952"/>
            <a:ext cx="11064240" cy="457200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3949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tuslibros.cl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3949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3949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curado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394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featured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3949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394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✓ OAuth MP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B8B9C"/>
                </a:solidFill>
                <a:latin typeface="Helvetica Neue"/>
              </a:rPr>
              <a:t>La posición competitiva no es "otro Buscalibre" ni "otro MercadoLibre". Es la librería de viejo de Santiago, pero online, con mapa, con pago integrado y con foto-a-catálogo.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3D4670"/>
                </a:solidFill>
                <a:latin typeface="Georgia"/>
              </a:rPr>
              <a:t>Founder única, velocity probada.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VERÓNICA VELÁSQUEZ — FOUNDER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D2E3D"/>
                </a:solidFill>
                <a:latin typeface="Helvetica Neue"/>
              </a:rPr>
              <a:t>Background en economía y consultoría. Ex-economics.cl. Decisión deliberada de operar sin cofundador técnico.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5303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2D2E3D"/>
                </a:solidFill>
                <a:latin typeface="Helvetica Neue"/>
              </a:rPr>
              <a:t>No es limitación: es el modelo. Dev asistido por Claude Code me permite iterar producción en horas lo que una startup tradicional iteraría en semanas.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EVIDENCIA DE EJECUCIÓN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83464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7 días desde 0 hasta producción con MP + Shipit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42900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18 días de iteración continua: 207 listings curados, 3 librerías onboardeadas, 3 compradores, 11 libros vendidos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Deploy diario a producción sin regresiones críticas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61772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Burn $45/mes: disciplina de capital desde día uno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2120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Founder cerca del customer: respondí yo el primer email, yo cerré el primer testimonio, yo entregué el primer bundle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El argumento tradicional contra un founder único es ejecución. La evidencia de los últimos 18 días responde eso antes de la pregunta.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2D2E3D"/>
                </a:solidFill>
                <a:latin typeface="Georgia"/>
              </a:rPr>
              <a:t>USD 80-120k · 6-9% · pre-money USD 1.2M.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B8B9C"/>
                </a:solidFill>
                <a:latin typeface="Helvetica Neue"/>
              </a:rPr>
              <a:t>$76 – $114 millones CLP  ·  ronda pre-seed  ·  SAFE o nota convertible  ·  runway 12 meses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640080" cy="36576"/>
          </a:xfrm>
          <a:prstGeom prst="rect">
            <a:avLst/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VALORIZACIÓN TRIANGULADA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Berkus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6517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2D2E3D"/>
                </a:solidFill>
                <a:latin typeface="Helvetica Neue"/>
              </a:rPr>
              <a:t>USD 1.6M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992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Scorecard vs. comparables LatAm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999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2D2E3D"/>
                </a:solidFill>
                <a:latin typeface="Helvetica Neue"/>
              </a:rPr>
              <a:t>USD 1.42M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Replacement cost (piso)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346704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2D2E3D"/>
                </a:solidFill>
                <a:latin typeface="Helvetica Neue"/>
              </a:rPr>
              <a:t>USD 200k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9417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Comparables Chile seed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69417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2D2E3D"/>
                </a:solidFill>
                <a:latin typeface="Helvetica Neue"/>
              </a:rPr>
              <a:t>USD 1.2-1.4M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05072"/>
            <a:ext cx="5486400" cy="365760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416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2E3D"/>
                </a:solidFill>
                <a:latin typeface="Helvetica Neue"/>
              </a:rPr>
              <a:t>Pre-money objetivo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0416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D2E3D"/>
                </a:solidFill>
                <a:latin typeface="Helvetica Neue"/>
              </a:rPr>
              <a:t>USD 1.2M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5486400" cy="173736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36576" cy="1737360"/>
          </a:xfrm>
          <a:prstGeom prst="rect">
            <a:avLst/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17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MÉTODOS, EN BREVE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37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2E3D"/>
                </a:solidFill>
                <a:latin typeface="Helvetica Neue"/>
              </a:rPr>
              <a:t>Berkus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93776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D2E3D"/>
                </a:solidFill>
                <a:latin typeface="Helvetica Neue"/>
              </a:rPr>
              <a:t>asigna hasta USD 500k a 5 componentes (idea, producto, equipo, alianzas, ventas).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76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2E3D"/>
                </a:solidFill>
                <a:latin typeface="Helvetica Neue"/>
              </a:rPr>
              <a:t>Scorecard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76672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D2E3D"/>
                </a:solidFill>
                <a:latin typeface="Helvetica Neue"/>
              </a:rPr>
              <a:t>compara contra comparables seed LatAm, ajusta por fuerzas relativas.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155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2E3D"/>
                </a:solidFill>
                <a:latin typeface="Helvetica Neue"/>
              </a:rPr>
              <a:t>Replacement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815584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D2E3D"/>
                </a:solidFill>
                <a:latin typeface="Helvetica Neue"/>
              </a:rPr>
              <a:t>cuánto costaría reconstruir lo construido. Piso de negociación.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240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USO DE FONDOS · 12 MESES  (USD 100k base)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6517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2E3D"/>
                </a:solidFill>
                <a:latin typeface="Helvetica Neue"/>
              </a:rPr>
              <a:t>Salario founder ($5M CLP/mes × 12)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26517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D2E3D"/>
                </a:solidFill>
                <a:latin typeface="Helvetica Neue"/>
              </a:rPr>
              <a:t>60%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0175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Marketing digital + GTM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3017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D2E3D"/>
                </a:solidFill>
                <a:latin typeface="Helvetica Neue"/>
              </a:rPr>
              <a:t>20%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383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Activación librerías +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33832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D2E3D"/>
                </a:solidFill>
                <a:latin typeface="Helvetica Neue"/>
              </a:rPr>
              <a:t>12%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74903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Infra + reserva operativa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3749039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D2E3D"/>
                </a:solidFill>
                <a:latin typeface="Helvetica Neue"/>
              </a:rPr>
              <a:t>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2062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Dedicación full-time. Hoy opero con ahorros — el salario en el ask libera 100% del tiempo para escalar.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HITO A 12 MESES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349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20 vendedores activos · 2 alianzas universitarias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66927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$5 millones CLP MRR · 500+ transacciones/mes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Listo para ronda seed USD 500k-1M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HABLEMOS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 i="0">
                <a:solidFill>
                  <a:srgbClr val="2D2E3D"/>
                </a:solidFill>
                <a:latin typeface="Georgia"/>
              </a:rPr>
              <a:t>El mejor momento para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 i="1">
                <a:solidFill>
                  <a:srgbClr val="A77A0E"/>
                </a:solidFill>
                <a:latin typeface="Georgia"/>
              </a:rPr>
              <a:t>entrar es ahora.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D2E3D"/>
                </a:solidFill>
                <a:latin typeface="Helvetica Neue"/>
              </a:rPr>
              <a:t>En 18 días el producto está en producción, hay compradores reales con ciclo cerrado, 3 librerías profesionales llegaron solas y el primer testimonio autorizado está publicado. El capital que busco es para activar lo que ya está tocando la puerta — no para construir algo desde cero.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394960"/>
            <a:ext cx="11064240" cy="1188720"/>
          </a:xfrm>
          <a:prstGeom prst="rect">
            <a:avLst/>
          </a:prstGeom>
          <a:solidFill>
            <a:srgbClr val="F3EAD5"/>
          </a:solidFill>
          <a:ln w="19050">
            <a:solidFill>
              <a:srgbClr val="A77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VERÓNICA VELÁSQUEZ — FOUNDER · TUSLIBROS.CL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vero@economics.cl · Santiago · Providencia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5321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PRÓXIMOS PASOS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89788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Deep dive GA4 · Proyección 36 meses · Term sheet 1-2 semanas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